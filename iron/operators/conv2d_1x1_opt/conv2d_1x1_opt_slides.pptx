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ri"/>
          <p:cNvSpPr/>
          <p:nvPr/>
        </p:nvSpPr>
        <p:spPr>
          <a:xfrm flipV="1">
            <a:off x="9083040" y="3749040"/>
            <a:ext cx="3108960" cy="31089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b"/>
          <p:cNvSpPr txBox="1"/>
          <p:nvPr/>
        </p:nvSpPr>
        <p:spPr>
          <a:xfrm>
            <a:off x="548640" y="320040"/>
            <a:ext cx="329184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1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13" name="tb"/>
          <p:cNvSpPr txBox="1"/>
          <p:nvPr/>
        </p:nvSpPr>
        <p:spPr>
          <a:xfrm>
            <a:off x="548640" y="1645920"/>
            <a:ext cx="9875520" cy="1828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3400" b="1">
                <a:solidFill>
                  <a:srgbClr val="3E8E2F"/>
                </a:solidFill>
                <a:latin typeface="Calibri"/>
              </a:rPr>
              <a:t>Mapping-Aware Acceleration of Pointwise (1×1) Convolutions</a:t>
            </a:r>
          </a:p>
          <a:p>
            <a:pPr marL="0" indent="0" lvl="0" algn="l">
              <a:spcBef>
                <a:spcPts val="600"/>
              </a:spcBef>
              <a:buNone/>
            </a:pPr>
            <a:r>
              <a:rPr lang="en-US" sz="3400" b="1">
                <a:solidFill>
                  <a:srgbClr val="3E8E2F"/>
                </a:solidFill>
                <a:latin typeface="Calibri"/>
              </a:rPr>
              <a:t>on the AMD XDNA2 NPU</a:t>
            </a:r>
          </a:p>
        </p:txBody>
      </p:sp>
      <p:sp>
        <p:nvSpPr>
          <p:cNvPr id="14" name="tb"/>
          <p:cNvSpPr txBox="1"/>
          <p:nvPr/>
        </p:nvSpPr>
        <p:spPr>
          <a:xfrm>
            <a:off x="548640" y="3566160"/>
            <a:ext cx="7315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800" b="0">
                <a:solidFill>
                  <a:srgbClr val="1A1A1A"/>
                </a:solidFill>
                <a:latin typeface="Calibri"/>
              </a:rPr>
              <a:t>Project Report</a:t>
            </a:r>
          </a:p>
        </p:txBody>
      </p:sp>
      <p:sp>
        <p:nvSpPr>
          <p:cNvPr id="15" name="tb"/>
          <p:cNvSpPr txBox="1"/>
          <p:nvPr/>
        </p:nvSpPr>
        <p:spPr>
          <a:xfrm>
            <a:off x="548640" y="4297680"/>
            <a:ext cx="82296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500" b="1">
                <a:solidFill>
                  <a:srgbClr val="1A1A1A"/>
                </a:solidFill>
                <a:latin typeface="Calibri"/>
              </a:rPr>
              <a:t>Andrea Massimo Rosetti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   arosetti@ethz.ch</a:t>
            </a:r>
          </a:p>
          <a:p>
            <a:pPr marL="0" indent="0" lvl="0" algn="l">
              <a:spcBef>
                <a:spcPts val="900"/>
              </a:spcBef>
              <a:buNone/>
            </a:pPr>
            <a:r>
              <a:rPr lang="en-US" sz="1400" b="0">
                <a:solidFill>
                  <a:srgbClr val="1A1A1A"/>
                </a:solidFill>
                <a:latin typeface="Calibri"/>
              </a:rPr>
              <a:t>Supervisor: </a:t>
            </a:r>
            <a:r>
              <a:rPr lang="en-US" sz="1400" b="1">
                <a:solidFill>
                  <a:srgbClr val="1A1A1A"/>
                </a:solidFill>
                <a:latin typeface="Calibri"/>
              </a:rPr>
              <a:t>Prof. Luca Benini</a:t>
            </a:r>
          </a:p>
          <a:p>
            <a:pPr marL="0" indent="0" lvl="0" algn="l">
              <a:spcBef>
                <a:spcPts val="300"/>
              </a:spcBef>
              <a:buNone/>
            </a:pPr>
            <a:r>
              <a:rPr lang="en-US" sz="1400" b="0">
                <a:solidFill>
                  <a:srgbClr val="1A1A1A"/>
                </a:solidFill>
                <a:latin typeface="Calibri"/>
              </a:rPr>
              <a:t>Advisor: </a:t>
            </a:r>
            <a:r>
              <a:rPr lang="en-US" sz="1400" b="1">
                <a:solidFill>
                  <a:srgbClr val="1A1A1A"/>
                </a:solidFill>
                <a:latin typeface="Calibri"/>
              </a:rPr>
              <a:t>&lt;name&gt;</a:t>
            </a:r>
          </a:p>
        </p:txBody>
      </p:sp>
      <p:sp>
        <p:nvSpPr>
          <p:cNvPr id="16" name="tb"/>
          <p:cNvSpPr txBox="1"/>
          <p:nvPr/>
        </p:nvSpPr>
        <p:spPr>
          <a:xfrm>
            <a:off x="548640" y="5989320"/>
            <a:ext cx="54864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100" b="1">
                <a:solidFill>
                  <a:srgbClr val="1A1A1A"/>
                </a:solidFill>
                <a:latin typeface="Calibri"/>
              </a:rPr>
              <a:t>PULP Platform</a:t>
            </a:r>
            <a:r>
              <a:rPr lang="en-US" sz="1100" b="0">
                <a:solidFill>
                  <a:srgbClr val="1A1A1A"/>
                </a:solidFill>
                <a:latin typeface="Calibri"/>
              </a:rPr>
              <a:t> — Open Source Hardware, the way it should be!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Why pointwise convolutions?</a:t>
            </a:r>
          </a:p>
        </p:txBody>
      </p:sp>
      <p:sp>
        <p:nvSpPr>
          <p:cNvPr id="19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20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2</a:t>
            </a:r>
          </a:p>
        </p:txBody>
      </p:sp>
      <p:sp>
        <p:nvSpPr>
          <p:cNvPr id="21" name="tb"/>
          <p:cNvSpPr txBox="1"/>
          <p:nvPr/>
        </p:nvSpPr>
        <p:spPr>
          <a:xfrm>
            <a:off x="594360" y="1371600"/>
            <a:ext cx="10424160" cy="4754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700" b="1">
                <a:solidFill>
                  <a:srgbClr val="1A1A1A"/>
                </a:solidFill>
                <a:latin typeface="Calibri"/>
              </a:rPr>
              <a:t>NPUs accelerate CNN inference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with a grid of many small cores — but they must be fed the right data to stay busy.</a:t>
            </a:r>
          </a:p>
          <a:p>
            <a:pPr marL="228600" indent="-228600" lvl="0" algn="l">
              <a:spcBef>
                <a:spcPts val="1400"/>
              </a:spcBef>
              <a:buFont typeface="Arial"/>
              <a:buChar char="▪"/>
            </a:pPr>
            <a:r>
              <a:rPr lang="en-US" sz="1700" b="1">
                <a:solidFill>
                  <a:srgbClr val="1A1A1A"/>
                </a:solidFill>
                <a:latin typeface="Calibri"/>
              </a:rPr>
              <a:t>1×1 (pointwise) convolutions are everywhere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— the expand / project layers of the bottlenecks in ResNet, MobileNet, EfficientNet, ConvNeXt, DenseNet, YOLO…</a:t>
            </a:r>
          </a:p>
          <a:p>
            <a:pPr marL="685800" indent="-228600" lvl="1" algn="l">
              <a:spcBef>
                <a:spcPts val="600"/>
              </a:spcBef>
              <a:buFont typeface="Arial"/>
              <a:buChar char="•"/>
            </a:pPr>
            <a:r>
              <a:rPr lang="en-US" sz="1600" b="0">
                <a:solidFill>
                  <a:srgbClr val="1A1A1A"/>
                </a:solidFill>
                <a:latin typeface="Calibri"/>
              </a:rPr>
              <a:t>They are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pure channel mixing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(no spatial mixing) → they dominate the channel-wise FLOPs of modern CNNs.</a:t>
            </a:r>
          </a:p>
          <a:p>
            <a:pPr marL="228600" indent="-228600" lvl="0" algn="l">
              <a:spcBef>
                <a:spcPts val="1400"/>
              </a:spcBef>
              <a:buFont typeface="Arial"/>
              <a:buChar char="▪"/>
            </a:pPr>
            <a:r>
              <a:rPr lang="en-US" sz="1700" b="1">
                <a:solidFill>
                  <a:srgbClr val="1A1A1A"/>
                </a:solidFill>
                <a:latin typeface="Calibri"/>
              </a:rPr>
              <a:t>Goal: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run them efficiently on the AMD XDNA2 NPU — and understand what actually limits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A 1×1 convolution *is* a matrix multiply</a:t>
            </a:r>
          </a:p>
        </p:txBody>
      </p:sp>
      <p:sp>
        <p:nvSpPr>
          <p:cNvPr id="24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25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3</a:t>
            </a:r>
          </a:p>
        </p:txBody>
      </p:sp>
      <p:sp>
        <p:nvSpPr>
          <p:cNvPr id="26" name="tb"/>
          <p:cNvSpPr txBox="1"/>
          <p:nvPr/>
        </p:nvSpPr>
        <p:spPr>
          <a:xfrm>
            <a:off x="594360" y="1234440"/>
            <a:ext cx="10424160" cy="1554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700" b="0">
                <a:solidFill>
                  <a:srgbClr val="1A1A1A"/>
                </a:solidFill>
                <a:latin typeface="Calibri"/>
              </a:rPr>
              <a:t>For each pixel: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output channels = Weights · input channels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28600" indent="-228600" lvl="0" algn="l">
              <a:spcBef>
                <a:spcPts val="900"/>
              </a:spcBef>
              <a:buFont typeface="Arial"/>
              <a:buChar char="▪"/>
            </a:pPr>
            <a:r>
              <a:rPr lang="en-US" sz="1700" b="0">
                <a:solidFill>
                  <a:srgbClr val="1A1A1A"/>
                </a:solidFill>
                <a:latin typeface="Calibri"/>
              </a:rPr>
              <a:t>Stack all pixels → a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GEMM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:  M = C_out,  K = C_in,  N = H·W (pixels), 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C = A × B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685800" indent="-228600" lvl="1" algn="l">
              <a:spcBef>
                <a:spcPts val="600"/>
              </a:spcBef>
              <a:buFont typeface="Arial"/>
              <a:buChar char="•"/>
            </a:pPr>
            <a:r>
              <a:rPr lang="en-US" sz="1500" b="0">
                <a:solidFill>
                  <a:srgbClr val="1A1A1A"/>
                </a:solidFill>
                <a:latin typeface="Calibri"/>
              </a:rPr>
              <a:t>Weights→A, activation→B, output→C: the torch NCHW tensors feed the array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directly, no transpose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27" name="sh"/>
          <p:cNvSpPr/>
          <p:nvPr/>
        </p:nvSpPr>
        <p:spPr>
          <a:xfrm>
            <a:off x="1188720" y="3749039"/>
            <a:ext cx="2011680" cy="1371600"/>
          </a:xfrm>
          <a:prstGeom prst="rect">
            <a:avLst/>
          </a:prstGeom>
          <a:solidFill>
            <a:srgbClr val="2E6DA4"/>
          </a:solidFill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A = weights
[M × K]</a:t>
            </a:r>
          </a:p>
        </p:txBody>
      </p:sp>
      <p:sp>
        <p:nvSpPr>
          <p:cNvPr id="28" name="tb"/>
          <p:cNvSpPr txBox="1"/>
          <p:nvPr/>
        </p:nvSpPr>
        <p:spPr>
          <a:xfrm>
            <a:off x="3246120" y="3749039"/>
            <a:ext cx="548640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2800" b="0">
                <a:solidFill>
                  <a:srgbClr val="1A1A1A"/>
                </a:solidFill>
                <a:latin typeface="Calibri"/>
              </a:rPr>
              <a:t>×</a:t>
            </a:r>
          </a:p>
        </p:txBody>
      </p:sp>
      <p:sp>
        <p:nvSpPr>
          <p:cNvPr id="29" name="sh"/>
          <p:cNvSpPr/>
          <p:nvPr/>
        </p:nvSpPr>
        <p:spPr>
          <a:xfrm>
            <a:off x="3840480" y="3749039"/>
            <a:ext cx="2377440" cy="1371600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B = activation
[K × N]</a:t>
            </a:r>
          </a:p>
        </p:txBody>
      </p:sp>
      <p:sp>
        <p:nvSpPr>
          <p:cNvPr id="30" name="tb"/>
          <p:cNvSpPr txBox="1"/>
          <p:nvPr/>
        </p:nvSpPr>
        <p:spPr>
          <a:xfrm>
            <a:off x="6263640" y="3749039"/>
            <a:ext cx="548640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2800" b="0">
                <a:solidFill>
                  <a:srgbClr val="1A1A1A"/>
                </a:solidFill>
                <a:latin typeface="Calibri"/>
              </a:rPr>
              <a:t>=</a:t>
            </a:r>
          </a:p>
        </p:txBody>
      </p:sp>
      <p:sp>
        <p:nvSpPr>
          <p:cNvPr id="31" name="sh"/>
          <p:cNvSpPr/>
          <p:nvPr/>
        </p:nvSpPr>
        <p:spPr>
          <a:xfrm>
            <a:off x="6858000" y="3749039"/>
            <a:ext cx="2743200" cy="1371600"/>
          </a:xfrm>
          <a:prstGeom prst="rect">
            <a:avLst/>
          </a:prstGeom>
          <a:solidFill>
            <a:srgbClr val="B0392E"/>
          </a:solidFill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C = output
[M × N]</a:t>
            </a:r>
          </a:p>
        </p:txBody>
      </p:sp>
      <p:sp>
        <p:nvSpPr>
          <p:cNvPr id="32" name="tb"/>
          <p:cNvSpPr txBox="1"/>
          <p:nvPr/>
        </p:nvSpPr>
        <p:spPr>
          <a:xfrm>
            <a:off x="1188720" y="5166359"/>
            <a:ext cx="84124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C_out output channels          C_in input channels          H·W pixels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34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How the GEMM maps onto the NPU array</a:t>
            </a:r>
          </a:p>
        </p:txBody>
      </p:sp>
      <p:sp>
        <p:nvSpPr>
          <p:cNvPr id="35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36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4</a:t>
            </a:r>
          </a:p>
        </p:txBody>
      </p:sp>
      <p:sp>
        <p:nvSpPr>
          <p:cNvPr id="37" name="tb"/>
          <p:cNvSpPr txBox="1"/>
          <p:nvPr/>
        </p:nvSpPr>
        <p:spPr>
          <a:xfrm>
            <a:off x="594360" y="1234440"/>
            <a:ext cx="5486400" cy="420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600" b="0">
                <a:solidFill>
                  <a:srgbClr val="1A1A1A"/>
                </a:solidFill>
                <a:latin typeface="Calibri"/>
              </a:rPr>
              <a:t>NPU2 (AMD XDNA2, Strix) =</a:t>
            </a:r>
          </a:p>
          <a:p>
            <a:pPr marL="0" indent="0" lvl="0" algn="l">
              <a:spcBef>
                <a:spcPts val="200"/>
              </a:spcBef>
              <a:buNone/>
            </a:pPr>
            <a:r>
              <a:rPr lang="en-US" sz="1700" b="1">
                <a:solidFill>
                  <a:srgbClr val="1A1A1A"/>
                </a:solidFill>
                <a:latin typeface="Calibri"/>
              </a:rPr>
              <a:t>4 rows × 8 columns = 32 cores</a:t>
            </a:r>
          </a:p>
          <a:p>
            <a:pPr marL="228600" indent="-228600" lvl="0" algn="l">
              <a:spcBef>
                <a:spcPts val="900"/>
              </a:spcBef>
              <a:buFont typeface="Arial"/>
              <a:buChar char="▪"/>
            </a:pPr>
            <a:r>
              <a:rPr lang="en-US" sz="1500" b="0">
                <a:solidFill>
                  <a:srgbClr val="1A1A1A"/>
                </a:solidFill>
                <a:latin typeface="Calibri"/>
              </a:rPr>
              <a:t>Data streams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L3 → L2 → L1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; cores compute only on L1 tiles.</a:t>
            </a:r>
          </a:p>
          <a:p>
            <a:pPr marL="228600" indent="-228600" lvl="0" algn="l">
              <a:spcBef>
                <a:spcPts val="900"/>
              </a:spcBef>
              <a:buFont typeface="Arial"/>
              <a:buChar char="▪"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Columns ↔ pixels (N)</a:t>
            </a:r>
          </a:p>
          <a:p>
            <a:pPr marL="228600" indent="-228600" lvl="0" algn="l">
              <a:spcBef>
                <a:spcPts val="300"/>
              </a:spcBef>
              <a:buFont typeface="Arial"/>
              <a:buChar char="▪"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Rows ↔ output channels (M)</a:t>
            </a:r>
          </a:p>
          <a:p>
            <a:pPr marL="228600" indent="-228600" lvl="0" algn="l">
              <a:spcBef>
                <a:spcPts val="300"/>
              </a:spcBef>
              <a:buFont typeface="Arial"/>
              <a:buChar char="▪"/>
            </a:pPr>
            <a:r>
              <a:rPr lang="en-US" sz="1500" b="1">
                <a:solidFill>
                  <a:srgbClr val="1A1A1A"/>
                </a:solidFill>
                <a:latin typeface="Calibri"/>
              </a:rPr>
              <a:t>K = C_in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is the reduction (accumulated over k-blocks).</a:t>
            </a:r>
          </a:p>
        </p:txBody>
      </p:sp>
      <p:sp>
        <p:nvSpPr>
          <p:cNvPr id="38" name="sh"/>
          <p:cNvSpPr/>
          <p:nvPr/>
        </p:nvSpPr>
        <p:spPr>
          <a:xfrm>
            <a:off x="6400800" y="1645920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9" name="sh"/>
          <p:cNvSpPr/>
          <p:nvPr/>
        </p:nvSpPr>
        <p:spPr>
          <a:xfrm>
            <a:off x="6931152" y="1645920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0" name="sh"/>
          <p:cNvSpPr/>
          <p:nvPr/>
        </p:nvSpPr>
        <p:spPr>
          <a:xfrm>
            <a:off x="7461504" y="1645920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1" name="sh"/>
          <p:cNvSpPr/>
          <p:nvPr/>
        </p:nvSpPr>
        <p:spPr>
          <a:xfrm>
            <a:off x="7991856" y="1645920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2" name="sh"/>
          <p:cNvSpPr/>
          <p:nvPr/>
        </p:nvSpPr>
        <p:spPr>
          <a:xfrm>
            <a:off x="8522208" y="1645920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3" name="sh"/>
          <p:cNvSpPr/>
          <p:nvPr/>
        </p:nvSpPr>
        <p:spPr>
          <a:xfrm>
            <a:off x="9052560" y="1645920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4" name="sh"/>
          <p:cNvSpPr/>
          <p:nvPr/>
        </p:nvSpPr>
        <p:spPr>
          <a:xfrm>
            <a:off x="9582912" y="1645920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5" name="sh"/>
          <p:cNvSpPr/>
          <p:nvPr/>
        </p:nvSpPr>
        <p:spPr>
          <a:xfrm>
            <a:off x="10113264" y="1645920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6" name="sh"/>
          <p:cNvSpPr/>
          <p:nvPr/>
        </p:nvSpPr>
        <p:spPr>
          <a:xfrm>
            <a:off x="6400800" y="2176272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7" name="sh"/>
          <p:cNvSpPr/>
          <p:nvPr/>
        </p:nvSpPr>
        <p:spPr>
          <a:xfrm>
            <a:off x="6931152" y="2176272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8" name="sh"/>
          <p:cNvSpPr/>
          <p:nvPr/>
        </p:nvSpPr>
        <p:spPr>
          <a:xfrm>
            <a:off x="7461504" y="2176272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9" name="sh"/>
          <p:cNvSpPr/>
          <p:nvPr/>
        </p:nvSpPr>
        <p:spPr>
          <a:xfrm>
            <a:off x="7991856" y="2176272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0" name="sh"/>
          <p:cNvSpPr/>
          <p:nvPr/>
        </p:nvSpPr>
        <p:spPr>
          <a:xfrm>
            <a:off x="8522208" y="2176272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1" name="sh"/>
          <p:cNvSpPr/>
          <p:nvPr/>
        </p:nvSpPr>
        <p:spPr>
          <a:xfrm>
            <a:off x="9052560" y="2176272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2" name="sh"/>
          <p:cNvSpPr/>
          <p:nvPr/>
        </p:nvSpPr>
        <p:spPr>
          <a:xfrm>
            <a:off x="9582912" y="2176272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3" name="sh"/>
          <p:cNvSpPr/>
          <p:nvPr/>
        </p:nvSpPr>
        <p:spPr>
          <a:xfrm>
            <a:off x="10113264" y="2176272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4" name="sh"/>
          <p:cNvSpPr/>
          <p:nvPr/>
        </p:nvSpPr>
        <p:spPr>
          <a:xfrm>
            <a:off x="6400800" y="2706624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5" name="sh"/>
          <p:cNvSpPr/>
          <p:nvPr/>
        </p:nvSpPr>
        <p:spPr>
          <a:xfrm>
            <a:off x="6931152" y="2706624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6" name="sh"/>
          <p:cNvSpPr/>
          <p:nvPr/>
        </p:nvSpPr>
        <p:spPr>
          <a:xfrm>
            <a:off x="7461504" y="2706624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7" name="sh"/>
          <p:cNvSpPr/>
          <p:nvPr/>
        </p:nvSpPr>
        <p:spPr>
          <a:xfrm>
            <a:off x="7991856" y="2706624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8" name="sh"/>
          <p:cNvSpPr/>
          <p:nvPr/>
        </p:nvSpPr>
        <p:spPr>
          <a:xfrm>
            <a:off x="8522208" y="2706624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59" name="sh"/>
          <p:cNvSpPr/>
          <p:nvPr/>
        </p:nvSpPr>
        <p:spPr>
          <a:xfrm>
            <a:off x="9052560" y="2706624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0" name="sh"/>
          <p:cNvSpPr/>
          <p:nvPr/>
        </p:nvSpPr>
        <p:spPr>
          <a:xfrm>
            <a:off x="9582912" y="2706624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1" name="sh"/>
          <p:cNvSpPr/>
          <p:nvPr/>
        </p:nvSpPr>
        <p:spPr>
          <a:xfrm>
            <a:off x="10113264" y="2706624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2" name="sh"/>
          <p:cNvSpPr/>
          <p:nvPr/>
        </p:nvSpPr>
        <p:spPr>
          <a:xfrm>
            <a:off x="6400800" y="3236976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3" name="sh"/>
          <p:cNvSpPr/>
          <p:nvPr/>
        </p:nvSpPr>
        <p:spPr>
          <a:xfrm>
            <a:off x="6931152" y="3236976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4" name="sh"/>
          <p:cNvSpPr/>
          <p:nvPr/>
        </p:nvSpPr>
        <p:spPr>
          <a:xfrm>
            <a:off x="7461504" y="3236976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5" name="sh"/>
          <p:cNvSpPr/>
          <p:nvPr/>
        </p:nvSpPr>
        <p:spPr>
          <a:xfrm>
            <a:off x="7991856" y="3236976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6" name="sh"/>
          <p:cNvSpPr/>
          <p:nvPr/>
        </p:nvSpPr>
        <p:spPr>
          <a:xfrm>
            <a:off x="8522208" y="3236976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7" name="sh"/>
          <p:cNvSpPr/>
          <p:nvPr/>
        </p:nvSpPr>
        <p:spPr>
          <a:xfrm>
            <a:off x="9052560" y="3236976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8" name="sh"/>
          <p:cNvSpPr/>
          <p:nvPr/>
        </p:nvSpPr>
        <p:spPr>
          <a:xfrm>
            <a:off x="9582912" y="3236976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69" name="sh"/>
          <p:cNvSpPr/>
          <p:nvPr/>
        </p:nvSpPr>
        <p:spPr>
          <a:xfrm>
            <a:off x="10113264" y="3236976"/>
            <a:ext cx="475488" cy="475488"/>
          </a:xfrm>
          <a:prstGeom prst="rect">
            <a:avLst/>
          </a:prstGeom>
          <a:solidFill>
            <a:srgbClr val="9AA0A6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70" name="tb"/>
          <p:cNvSpPr txBox="1"/>
          <p:nvPr/>
        </p:nvSpPr>
        <p:spPr>
          <a:xfrm>
            <a:off x="6400800" y="1325880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columns → pixels (8 wide)</a:t>
            </a:r>
          </a:p>
        </p:txBody>
      </p:sp>
      <p:sp>
        <p:nvSpPr>
          <p:cNvPr id="71" name="tb"/>
          <p:cNvSpPr txBox="1"/>
          <p:nvPr/>
        </p:nvSpPr>
        <p:spPr>
          <a:xfrm>
            <a:off x="6263640" y="4114800"/>
            <a:ext cx="457200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rows → C_out (4)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73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The problem: column starvation</a:t>
            </a:r>
          </a:p>
        </p:txBody>
      </p:sp>
      <p:sp>
        <p:nvSpPr>
          <p:cNvPr id="74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75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5</a:t>
            </a:r>
          </a:p>
        </p:txBody>
      </p:sp>
      <p:sp>
        <p:nvSpPr>
          <p:cNvPr id="76" name="tb"/>
          <p:cNvSpPr txBox="1"/>
          <p:nvPr/>
        </p:nvSpPr>
        <p:spPr>
          <a:xfrm>
            <a:off x="594360" y="1234440"/>
            <a:ext cx="5577840" cy="420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700" b="1">
                <a:solidFill>
                  <a:srgbClr val="1A1A1A"/>
                </a:solidFill>
                <a:latin typeface="Calibri"/>
              </a:rPr>
              <a:t>Tall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layers have many output channels but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few pixels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(every 7×7 late layer).</a:t>
            </a:r>
          </a:p>
          <a:p>
            <a:pPr marL="228600" indent="-228600" lvl="0" algn="l">
              <a:spcBef>
                <a:spcPts val="900"/>
              </a:spcBef>
              <a:buFont typeface="Arial"/>
              <a:buChar char="▪"/>
            </a:pPr>
            <a:r>
              <a:rPr lang="en-US" sz="1600" b="0">
                <a:solidFill>
                  <a:srgbClr val="1A1A1A"/>
                </a:solidFill>
                <a:latin typeface="Calibri"/>
              </a:rPr>
              <a:t>The plain mapping spends the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8-wide column axis on a handful of pixels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— mostly zero-padding.</a:t>
            </a:r>
          </a:p>
          <a:p>
            <a:pPr marL="228600" indent="-228600" lvl="0" algn="l">
              <a:spcBef>
                <a:spcPts val="900"/>
              </a:spcBef>
              <a:buFont typeface="Arial"/>
              <a:buChar char="▪"/>
            </a:pPr>
            <a:r>
              <a:rPr lang="en-US" sz="1600" b="0">
                <a:solidFill>
                  <a:srgbClr val="1A1A1A"/>
                </a:solidFill>
                <a:latin typeface="Calibri"/>
              </a:rPr>
              <a:t>The large C_out dimension — where the work is — gets only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4-way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row parallelism.</a:t>
            </a:r>
          </a:p>
          <a:p>
            <a:pPr marL="228600" indent="-228600" lvl="0" algn="l">
              <a:spcBef>
                <a:spcPts val="900"/>
              </a:spcBef>
              <a:buFont typeface="Arial"/>
              <a:buChar char="▪"/>
            </a:pPr>
            <a:r>
              <a:rPr lang="en-US" sz="1600" b="0">
                <a:solidFill>
                  <a:srgbClr val="B0392E"/>
                </a:solidFill>
                <a:latin typeface="Calibri"/>
              </a:rPr>
              <a:t>Across 8 real models: </a:t>
            </a:r>
            <a:r>
              <a:rPr lang="en-US" sz="1600" b="1">
                <a:solidFill>
                  <a:srgbClr val="B0392E"/>
                </a:solidFill>
                <a:latin typeface="Calibri"/>
              </a:rPr>
              <a:t>34% of 1×1 layers are tall</a:t>
            </a:r>
            <a:r>
              <a:rPr lang="en-US" sz="1600" b="0">
                <a:solidFill>
                  <a:srgbClr val="B0392E"/>
                </a:solidFill>
                <a:latin typeface="Calibri"/>
              </a:rPr>
              <a:t>, </a:t>
            </a:r>
            <a:r>
              <a:rPr lang="en-US" sz="1600" b="1">
                <a:solidFill>
                  <a:srgbClr val="B0392E"/>
                </a:solidFill>
                <a:latin typeface="Calibri"/>
              </a:rPr>
              <a:t>58% are column-starved</a:t>
            </a:r>
            <a:r>
              <a:rPr lang="en-US" sz="1600" b="0">
                <a:solidFill>
                  <a:srgbClr val="B0392E"/>
                </a:solidFill>
                <a:latin typeface="Calibri"/>
              </a:rPr>
              <a:t> (N&lt;512).</a:t>
            </a:r>
          </a:p>
        </p:txBody>
      </p:sp>
      <p:sp>
        <p:nvSpPr>
          <p:cNvPr id="77" name="sh"/>
          <p:cNvSpPr/>
          <p:nvPr/>
        </p:nvSpPr>
        <p:spPr>
          <a:xfrm>
            <a:off x="6583680" y="1737360"/>
            <a:ext cx="457200" cy="457200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78" name="sh"/>
          <p:cNvSpPr/>
          <p:nvPr/>
        </p:nvSpPr>
        <p:spPr>
          <a:xfrm>
            <a:off x="7095744" y="1737360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79" name="sh"/>
          <p:cNvSpPr/>
          <p:nvPr/>
        </p:nvSpPr>
        <p:spPr>
          <a:xfrm>
            <a:off x="7607808" y="1737360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0" name="sh"/>
          <p:cNvSpPr/>
          <p:nvPr/>
        </p:nvSpPr>
        <p:spPr>
          <a:xfrm>
            <a:off x="8119872" y="1737360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1" name="sh"/>
          <p:cNvSpPr/>
          <p:nvPr/>
        </p:nvSpPr>
        <p:spPr>
          <a:xfrm>
            <a:off x="8631936" y="1737360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2" name="sh"/>
          <p:cNvSpPr/>
          <p:nvPr/>
        </p:nvSpPr>
        <p:spPr>
          <a:xfrm>
            <a:off x="9144000" y="1737360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3" name="sh"/>
          <p:cNvSpPr/>
          <p:nvPr/>
        </p:nvSpPr>
        <p:spPr>
          <a:xfrm>
            <a:off x="9656064" y="1737360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4" name="sh"/>
          <p:cNvSpPr/>
          <p:nvPr/>
        </p:nvSpPr>
        <p:spPr>
          <a:xfrm>
            <a:off x="10168128" y="1737360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5" name="sh"/>
          <p:cNvSpPr/>
          <p:nvPr/>
        </p:nvSpPr>
        <p:spPr>
          <a:xfrm>
            <a:off x="6583680" y="2249424"/>
            <a:ext cx="457200" cy="457200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6" name="sh"/>
          <p:cNvSpPr/>
          <p:nvPr/>
        </p:nvSpPr>
        <p:spPr>
          <a:xfrm>
            <a:off x="7095744" y="2249424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7" name="sh"/>
          <p:cNvSpPr/>
          <p:nvPr/>
        </p:nvSpPr>
        <p:spPr>
          <a:xfrm>
            <a:off x="7607808" y="2249424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8" name="sh"/>
          <p:cNvSpPr/>
          <p:nvPr/>
        </p:nvSpPr>
        <p:spPr>
          <a:xfrm>
            <a:off x="8119872" y="2249424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89" name="sh"/>
          <p:cNvSpPr/>
          <p:nvPr/>
        </p:nvSpPr>
        <p:spPr>
          <a:xfrm>
            <a:off x="8631936" y="2249424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0" name="sh"/>
          <p:cNvSpPr/>
          <p:nvPr/>
        </p:nvSpPr>
        <p:spPr>
          <a:xfrm>
            <a:off x="9144000" y="2249424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1" name="sh"/>
          <p:cNvSpPr/>
          <p:nvPr/>
        </p:nvSpPr>
        <p:spPr>
          <a:xfrm>
            <a:off x="9656064" y="2249424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2" name="sh"/>
          <p:cNvSpPr/>
          <p:nvPr/>
        </p:nvSpPr>
        <p:spPr>
          <a:xfrm>
            <a:off x="10168128" y="2249424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3" name="sh"/>
          <p:cNvSpPr/>
          <p:nvPr/>
        </p:nvSpPr>
        <p:spPr>
          <a:xfrm>
            <a:off x="6583680" y="2761488"/>
            <a:ext cx="457200" cy="457200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4" name="sh"/>
          <p:cNvSpPr/>
          <p:nvPr/>
        </p:nvSpPr>
        <p:spPr>
          <a:xfrm>
            <a:off x="7095744" y="2761488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5" name="sh"/>
          <p:cNvSpPr/>
          <p:nvPr/>
        </p:nvSpPr>
        <p:spPr>
          <a:xfrm>
            <a:off x="7607808" y="2761488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6" name="sh"/>
          <p:cNvSpPr/>
          <p:nvPr/>
        </p:nvSpPr>
        <p:spPr>
          <a:xfrm>
            <a:off x="8119872" y="2761488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7" name="sh"/>
          <p:cNvSpPr/>
          <p:nvPr/>
        </p:nvSpPr>
        <p:spPr>
          <a:xfrm>
            <a:off x="8631936" y="2761488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8" name="sh"/>
          <p:cNvSpPr/>
          <p:nvPr/>
        </p:nvSpPr>
        <p:spPr>
          <a:xfrm>
            <a:off x="9144000" y="2761488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99" name="sh"/>
          <p:cNvSpPr/>
          <p:nvPr/>
        </p:nvSpPr>
        <p:spPr>
          <a:xfrm>
            <a:off x="9656064" y="2761488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0" name="sh"/>
          <p:cNvSpPr/>
          <p:nvPr/>
        </p:nvSpPr>
        <p:spPr>
          <a:xfrm>
            <a:off x="10168128" y="2761488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1" name="sh"/>
          <p:cNvSpPr/>
          <p:nvPr/>
        </p:nvSpPr>
        <p:spPr>
          <a:xfrm>
            <a:off x="6583680" y="3273552"/>
            <a:ext cx="457200" cy="457200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2" name="sh"/>
          <p:cNvSpPr/>
          <p:nvPr/>
        </p:nvSpPr>
        <p:spPr>
          <a:xfrm>
            <a:off x="7095744" y="3273552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3" name="sh"/>
          <p:cNvSpPr/>
          <p:nvPr/>
        </p:nvSpPr>
        <p:spPr>
          <a:xfrm>
            <a:off x="7607808" y="3273552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4" name="sh"/>
          <p:cNvSpPr/>
          <p:nvPr/>
        </p:nvSpPr>
        <p:spPr>
          <a:xfrm>
            <a:off x="8119872" y="3273552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5" name="sh"/>
          <p:cNvSpPr/>
          <p:nvPr/>
        </p:nvSpPr>
        <p:spPr>
          <a:xfrm>
            <a:off x="8631936" y="3273552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6" name="sh"/>
          <p:cNvSpPr/>
          <p:nvPr/>
        </p:nvSpPr>
        <p:spPr>
          <a:xfrm>
            <a:off x="9144000" y="3273552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7" name="sh"/>
          <p:cNvSpPr/>
          <p:nvPr/>
        </p:nvSpPr>
        <p:spPr>
          <a:xfrm>
            <a:off x="9656064" y="3273552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8" name="sh"/>
          <p:cNvSpPr/>
          <p:nvPr/>
        </p:nvSpPr>
        <p:spPr>
          <a:xfrm>
            <a:off x="10168128" y="3273552"/>
            <a:ext cx="457200" cy="457200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09" name="tb"/>
          <p:cNvSpPr txBox="1"/>
          <p:nvPr/>
        </p:nvSpPr>
        <p:spPr>
          <a:xfrm>
            <a:off x="6583680" y="4023360"/>
            <a:ext cx="420624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050" b="0">
                <a:solidFill>
                  <a:srgbClr val="B0392E"/>
                </a:solidFill>
                <a:latin typeface="Calibri"/>
              </a:rPr>
              <a:t>only 1 of 8 columns does useful work — the rest is padding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111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Contributions</a:t>
            </a:r>
          </a:p>
        </p:txBody>
      </p:sp>
      <p:sp>
        <p:nvSpPr>
          <p:cNvPr id="112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113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6</a:t>
            </a:r>
          </a:p>
        </p:txBody>
      </p:sp>
      <p:sp>
        <p:nvSpPr>
          <p:cNvPr id="114" name="tb"/>
          <p:cNvSpPr txBox="1"/>
          <p:nvPr/>
        </p:nvSpPr>
        <p:spPr>
          <a:xfrm>
            <a:off x="594360" y="1371600"/>
            <a:ext cx="10424160" cy="4754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Host-side padding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(layout-preserving) — any real conv shape runs, no reshaping.</a:t>
            </a:r>
          </a:p>
          <a:p>
            <a:pPr marL="228600" indent="-228600" lvl="0" algn="l">
              <a:spcBef>
                <a:spcPts val="800"/>
              </a:spcBef>
              <a:buFont typeface="Arial"/>
              <a:buChar char="▪"/>
            </a:pPr>
            <a:r>
              <a:rPr lang="en-US" sz="1700" b="1">
                <a:solidFill>
                  <a:srgbClr val="1A1A1A"/>
                </a:solidFill>
                <a:latin typeface="Calibri"/>
              </a:rPr>
              <a:t>The cols→M axis swap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— map C_out onto the 8 columns, where the work is.</a:t>
            </a:r>
          </a:p>
          <a:p>
            <a:pPr marL="685800" indent="-228600" lvl="1" algn="l">
              <a:spcBef>
                <a:spcPts val="400"/>
              </a:spcBef>
              <a:buFont typeface="Arial"/>
              <a:buChar char="•"/>
            </a:pPr>
            <a:r>
              <a:rPr lang="en-US" sz="1500" b="1">
                <a:solidFill>
                  <a:srgbClr val="1A1A1A"/>
                </a:solidFill>
                <a:latin typeface="Calibri"/>
              </a:rPr>
              <a:t>a_col_maj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: feed operands as-stored, transpose r×s blocks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in the kernel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(no illegal DMA transpose).</a:t>
            </a:r>
          </a:p>
          <a:p>
            <a:pPr marL="685800" indent="-228600" lvl="1" algn="l">
              <a:spcBef>
                <a:spcPts val="300"/>
              </a:spcBef>
              <a:buFont typeface="Arial"/>
              <a:buChar char="•"/>
            </a:pPr>
            <a:r>
              <a:rPr lang="en-US" sz="1500" b="1">
                <a:solidFill>
                  <a:srgbClr val="1A1A1A"/>
                </a:solidFill>
                <a:latin typeface="Calibri"/>
              </a:rPr>
              <a:t>Occupancy heuristic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— swap only the layers that are actually starved (never a regression).</a:t>
            </a:r>
          </a:p>
          <a:p>
            <a:pPr marL="228600" indent="-228600" lvl="0" algn="l">
              <a:spcBef>
                <a:spcPts val="800"/>
              </a:spcBef>
              <a:buFont typeface="Arial"/>
              <a:buChar char="▪"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batch &gt; 1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— per-image dispatch with shared weights.</a:t>
            </a:r>
          </a:p>
          <a:p>
            <a:pPr marL="228600" indent="-228600" lvl="0" algn="l">
              <a:spcBef>
                <a:spcPts val="500"/>
              </a:spcBef>
              <a:buFont typeface="Arial"/>
              <a:buChar char="▪"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Full evaluation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— 22 shapes from 8 real models, on device, plus a roofline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116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The idea: swap the axes</a:t>
            </a:r>
          </a:p>
        </p:txBody>
      </p:sp>
      <p:sp>
        <p:nvSpPr>
          <p:cNvPr id="117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118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7</a:t>
            </a:r>
          </a:p>
        </p:txBody>
      </p:sp>
      <p:sp>
        <p:nvSpPr>
          <p:cNvPr id="119" name="tb"/>
          <p:cNvSpPr txBox="1"/>
          <p:nvPr/>
        </p:nvSpPr>
        <p:spPr>
          <a:xfrm>
            <a:off x="594360" y="1234440"/>
            <a:ext cx="1042416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700" b="0">
                <a:solidFill>
                  <a:srgbClr val="1A1A1A"/>
                </a:solidFill>
                <a:latin typeface="Calibri"/>
              </a:rPr>
              <a:t>Map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columns ↔ C_out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(8-wide, where the channels are) and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rows ↔ pixels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(4-wide, plenty for a few pixels). Put the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wide axis where the work is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20" name="tb"/>
          <p:cNvSpPr txBox="1"/>
          <p:nvPr/>
        </p:nvSpPr>
        <p:spPr>
          <a:xfrm>
            <a:off x="914400" y="2468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1A1A1A"/>
                </a:solidFill>
                <a:latin typeface="Calibri"/>
              </a:rPr>
              <a:t>Plain: columns ↔ pixels</a:t>
            </a:r>
          </a:p>
        </p:txBody>
      </p:sp>
      <p:sp>
        <p:nvSpPr>
          <p:cNvPr id="121" name="sh"/>
          <p:cNvSpPr/>
          <p:nvPr/>
        </p:nvSpPr>
        <p:spPr>
          <a:xfrm>
            <a:off x="914400" y="29260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2" name="sh"/>
          <p:cNvSpPr/>
          <p:nvPr/>
        </p:nvSpPr>
        <p:spPr>
          <a:xfrm>
            <a:off x="1371600" y="29260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3" name="sh"/>
          <p:cNvSpPr/>
          <p:nvPr/>
        </p:nvSpPr>
        <p:spPr>
          <a:xfrm>
            <a:off x="1828800" y="29260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4" name="sh"/>
          <p:cNvSpPr/>
          <p:nvPr/>
        </p:nvSpPr>
        <p:spPr>
          <a:xfrm>
            <a:off x="2286000" y="29260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5" name="sh"/>
          <p:cNvSpPr/>
          <p:nvPr/>
        </p:nvSpPr>
        <p:spPr>
          <a:xfrm>
            <a:off x="2743200" y="29260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6" name="sh"/>
          <p:cNvSpPr/>
          <p:nvPr/>
        </p:nvSpPr>
        <p:spPr>
          <a:xfrm>
            <a:off x="3200400" y="29260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7" name="sh"/>
          <p:cNvSpPr/>
          <p:nvPr/>
        </p:nvSpPr>
        <p:spPr>
          <a:xfrm>
            <a:off x="3657600" y="29260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8" name="sh"/>
          <p:cNvSpPr/>
          <p:nvPr/>
        </p:nvSpPr>
        <p:spPr>
          <a:xfrm>
            <a:off x="4114800" y="29260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29" name="sh"/>
          <p:cNvSpPr/>
          <p:nvPr/>
        </p:nvSpPr>
        <p:spPr>
          <a:xfrm>
            <a:off x="914400" y="33832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0" name="sh"/>
          <p:cNvSpPr/>
          <p:nvPr/>
        </p:nvSpPr>
        <p:spPr>
          <a:xfrm>
            <a:off x="1371600" y="33832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1" name="sh"/>
          <p:cNvSpPr/>
          <p:nvPr/>
        </p:nvSpPr>
        <p:spPr>
          <a:xfrm>
            <a:off x="1828800" y="33832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2" name="sh"/>
          <p:cNvSpPr/>
          <p:nvPr/>
        </p:nvSpPr>
        <p:spPr>
          <a:xfrm>
            <a:off x="2286000" y="33832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3" name="sh"/>
          <p:cNvSpPr/>
          <p:nvPr/>
        </p:nvSpPr>
        <p:spPr>
          <a:xfrm>
            <a:off x="2743200" y="33832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4" name="sh"/>
          <p:cNvSpPr/>
          <p:nvPr/>
        </p:nvSpPr>
        <p:spPr>
          <a:xfrm>
            <a:off x="3200400" y="33832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5" name="sh"/>
          <p:cNvSpPr/>
          <p:nvPr/>
        </p:nvSpPr>
        <p:spPr>
          <a:xfrm>
            <a:off x="3657600" y="33832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6" name="sh"/>
          <p:cNvSpPr/>
          <p:nvPr/>
        </p:nvSpPr>
        <p:spPr>
          <a:xfrm>
            <a:off x="4114800" y="33832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7" name="sh"/>
          <p:cNvSpPr/>
          <p:nvPr/>
        </p:nvSpPr>
        <p:spPr>
          <a:xfrm>
            <a:off x="914400" y="38404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8" name="sh"/>
          <p:cNvSpPr/>
          <p:nvPr/>
        </p:nvSpPr>
        <p:spPr>
          <a:xfrm>
            <a:off x="1371600" y="38404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39" name="sh"/>
          <p:cNvSpPr/>
          <p:nvPr/>
        </p:nvSpPr>
        <p:spPr>
          <a:xfrm>
            <a:off x="1828800" y="38404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0" name="sh"/>
          <p:cNvSpPr/>
          <p:nvPr/>
        </p:nvSpPr>
        <p:spPr>
          <a:xfrm>
            <a:off x="2286000" y="38404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1" name="sh"/>
          <p:cNvSpPr/>
          <p:nvPr/>
        </p:nvSpPr>
        <p:spPr>
          <a:xfrm>
            <a:off x="2743200" y="38404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2" name="sh"/>
          <p:cNvSpPr/>
          <p:nvPr/>
        </p:nvSpPr>
        <p:spPr>
          <a:xfrm>
            <a:off x="3200400" y="38404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3" name="sh"/>
          <p:cNvSpPr/>
          <p:nvPr/>
        </p:nvSpPr>
        <p:spPr>
          <a:xfrm>
            <a:off x="3657600" y="38404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4" name="sh"/>
          <p:cNvSpPr/>
          <p:nvPr/>
        </p:nvSpPr>
        <p:spPr>
          <a:xfrm>
            <a:off x="4114800" y="38404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5" name="sh"/>
          <p:cNvSpPr/>
          <p:nvPr/>
        </p:nvSpPr>
        <p:spPr>
          <a:xfrm>
            <a:off x="914400" y="42976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6" name="sh"/>
          <p:cNvSpPr/>
          <p:nvPr/>
        </p:nvSpPr>
        <p:spPr>
          <a:xfrm>
            <a:off x="1371600" y="42976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7" name="sh"/>
          <p:cNvSpPr/>
          <p:nvPr/>
        </p:nvSpPr>
        <p:spPr>
          <a:xfrm>
            <a:off x="1828800" y="42976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8" name="sh"/>
          <p:cNvSpPr/>
          <p:nvPr/>
        </p:nvSpPr>
        <p:spPr>
          <a:xfrm>
            <a:off x="2286000" y="42976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49" name="sh"/>
          <p:cNvSpPr/>
          <p:nvPr/>
        </p:nvSpPr>
        <p:spPr>
          <a:xfrm>
            <a:off x="2743200" y="42976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0" name="sh"/>
          <p:cNvSpPr/>
          <p:nvPr/>
        </p:nvSpPr>
        <p:spPr>
          <a:xfrm>
            <a:off x="3200400" y="42976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1" name="sh"/>
          <p:cNvSpPr/>
          <p:nvPr/>
        </p:nvSpPr>
        <p:spPr>
          <a:xfrm>
            <a:off x="3657600" y="42976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2" name="sh"/>
          <p:cNvSpPr/>
          <p:nvPr/>
        </p:nvSpPr>
        <p:spPr>
          <a:xfrm>
            <a:off x="4114800" y="4297680"/>
            <a:ext cx="402336" cy="402336"/>
          </a:xfrm>
          <a:prstGeom prst="rect">
            <a:avLst/>
          </a:prstGeom>
          <a:solidFill>
            <a:srgbClr val="E4E3D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3" name="tb"/>
          <p:cNvSpPr txBox="1"/>
          <p:nvPr/>
        </p:nvSpPr>
        <p:spPr>
          <a:xfrm>
            <a:off x="914400" y="5029200"/>
            <a:ext cx="384048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0">
                <a:solidFill>
                  <a:srgbClr val="7A7A7A"/>
                </a:solidFill>
                <a:latin typeface="Calibri"/>
              </a:rPr>
              <a:t>tall layer → 1/8 columns used</a:t>
            </a:r>
          </a:p>
        </p:txBody>
      </p:sp>
      <p:sp>
        <p:nvSpPr>
          <p:cNvPr id="154" name="sh"/>
          <p:cNvSpPr/>
          <p:nvPr/>
        </p:nvSpPr>
        <p:spPr>
          <a:xfrm>
            <a:off x="5257800" y="3566160"/>
            <a:ext cx="822960" cy="457200"/>
          </a:xfrm>
          <a:prstGeom prst="rightArrow">
            <a:avLst/>
          </a:prstGeom>
          <a:solidFill>
            <a:srgbClr val="3E8E2F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5" name="tb"/>
          <p:cNvSpPr txBox="1"/>
          <p:nvPr/>
        </p:nvSpPr>
        <p:spPr>
          <a:xfrm>
            <a:off x="6400800" y="2468880"/>
            <a:ext cx="3840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400" b="1">
                <a:solidFill>
                  <a:srgbClr val="1A1A1A"/>
                </a:solidFill>
                <a:latin typeface="Calibri"/>
              </a:rPr>
              <a:t>Swap: columns ↔ C_out</a:t>
            </a:r>
          </a:p>
        </p:txBody>
      </p:sp>
      <p:sp>
        <p:nvSpPr>
          <p:cNvPr id="156" name="sh"/>
          <p:cNvSpPr/>
          <p:nvPr/>
        </p:nvSpPr>
        <p:spPr>
          <a:xfrm>
            <a:off x="6400800" y="29260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7" name="sh"/>
          <p:cNvSpPr/>
          <p:nvPr/>
        </p:nvSpPr>
        <p:spPr>
          <a:xfrm>
            <a:off x="6858000" y="29260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8" name="sh"/>
          <p:cNvSpPr/>
          <p:nvPr/>
        </p:nvSpPr>
        <p:spPr>
          <a:xfrm>
            <a:off x="7315200" y="29260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59" name="sh"/>
          <p:cNvSpPr/>
          <p:nvPr/>
        </p:nvSpPr>
        <p:spPr>
          <a:xfrm>
            <a:off x="7772400" y="29260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0" name="sh"/>
          <p:cNvSpPr/>
          <p:nvPr/>
        </p:nvSpPr>
        <p:spPr>
          <a:xfrm>
            <a:off x="8229600" y="29260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1" name="sh"/>
          <p:cNvSpPr/>
          <p:nvPr/>
        </p:nvSpPr>
        <p:spPr>
          <a:xfrm>
            <a:off x="8686800" y="29260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2" name="sh"/>
          <p:cNvSpPr/>
          <p:nvPr/>
        </p:nvSpPr>
        <p:spPr>
          <a:xfrm>
            <a:off x="9144000" y="29260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3" name="sh"/>
          <p:cNvSpPr/>
          <p:nvPr/>
        </p:nvSpPr>
        <p:spPr>
          <a:xfrm>
            <a:off x="9601200" y="29260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4" name="sh"/>
          <p:cNvSpPr/>
          <p:nvPr/>
        </p:nvSpPr>
        <p:spPr>
          <a:xfrm>
            <a:off x="6400800" y="33832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5" name="sh"/>
          <p:cNvSpPr/>
          <p:nvPr/>
        </p:nvSpPr>
        <p:spPr>
          <a:xfrm>
            <a:off x="6858000" y="33832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6" name="sh"/>
          <p:cNvSpPr/>
          <p:nvPr/>
        </p:nvSpPr>
        <p:spPr>
          <a:xfrm>
            <a:off x="7315200" y="33832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7" name="sh"/>
          <p:cNvSpPr/>
          <p:nvPr/>
        </p:nvSpPr>
        <p:spPr>
          <a:xfrm>
            <a:off x="7772400" y="33832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8" name="sh"/>
          <p:cNvSpPr/>
          <p:nvPr/>
        </p:nvSpPr>
        <p:spPr>
          <a:xfrm>
            <a:off x="8229600" y="33832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69" name="sh"/>
          <p:cNvSpPr/>
          <p:nvPr/>
        </p:nvSpPr>
        <p:spPr>
          <a:xfrm>
            <a:off x="8686800" y="33832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0" name="sh"/>
          <p:cNvSpPr/>
          <p:nvPr/>
        </p:nvSpPr>
        <p:spPr>
          <a:xfrm>
            <a:off x="9144000" y="33832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1" name="sh"/>
          <p:cNvSpPr/>
          <p:nvPr/>
        </p:nvSpPr>
        <p:spPr>
          <a:xfrm>
            <a:off x="9601200" y="33832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2" name="sh"/>
          <p:cNvSpPr/>
          <p:nvPr/>
        </p:nvSpPr>
        <p:spPr>
          <a:xfrm>
            <a:off x="6400800" y="38404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3" name="sh"/>
          <p:cNvSpPr/>
          <p:nvPr/>
        </p:nvSpPr>
        <p:spPr>
          <a:xfrm>
            <a:off x="6858000" y="38404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4" name="sh"/>
          <p:cNvSpPr/>
          <p:nvPr/>
        </p:nvSpPr>
        <p:spPr>
          <a:xfrm>
            <a:off x="7315200" y="38404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5" name="sh"/>
          <p:cNvSpPr/>
          <p:nvPr/>
        </p:nvSpPr>
        <p:spPr>
          <a:xfrm>
            <a:off x="7772400" y="38404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6" name="sh"/>
          <p:cNvSpPr/>
          <p:nvPr/>
        </p:nvSpPr>
        <p:spPr>
          <a:xfrm>
            <a:off x="8229600" y="38404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7" name="sh"/>
          <p:cNvSpPr/>
          <p:nvPr/>
        </p:nvSpPr>
        <p:spPr>
          <a:xfrm>
            <a:off x="8686800" y="38404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8" name="sh"/>
          <p:cNvSpPr/>
          <p:nvPr/>
        </p:nvSpPr>
        <p:spPr>
          <a:xfrm>
            <a:off x="9144000" y="38404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79" name="sh"/>
          <p:cNvSpPr/>
          <p:nvPr/>
        </p:nvSpPr>
        <p:spPr>
          <a:xfrm>
            <a:off x="9601200" y="38404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0" name="sh"/>
          <p:cNvSpPr/>
          <p:nvPr/>
        </p:nvSpPr>
        <p:spPr>
          <a:xfrm>
            <a:off x="6400800" y="42976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1" name="sh"/>
          <p:cNvSpPr/>
          <p:nvPr/>
        </p:nvSpPr>
        <p:spPr>
          <a:xfrm>
            <a:off x="6858000" y="42976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2" name="sh"/>
          <p:cNvSpPr/>
          <p:nvPr/>
        </p:nvSpPr>
        <p:spPr>
          <a:xfrm>
            <a:off x="7315200" y="42976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3" name="sh"/>
          <p:cNvSpPr/>
          <p:nvPr/>
        </p:nvSpPr>
        <p:spPr>
          <a:xfrm>
            <a:off x="7772400" y="42976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4" name="sh"/>
          <p:cNvSpPr/>
          <p:nvPr/>
        </p:nvSpPr>
        <p:spPr>
          <a:xfrm>
            <a:off x="8229600" y="42976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5" name="sh"/>
          <p:cNvSpPr/>
          <p:nvPr/>
        </p:nvSpPr>
        <p:spPr>
          <a:xfrm>
            <a:off x="8686800" y="42976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6" name="sh"/>
          <p:cNvSpPr/>
          <p:nvPr/>
        </p:nvSpPr>
        <p:spPr>
          <a:xfrm>
            <a:off x="9144000" y="42976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7" name="sh"/>
          <p:cNvSpPr/>
          <p:nvPr/>
        </p:nvSpPr>
        <p:spPr>
          <a:xfrm>
            <a:off x="9601200" y="4297680"/>
            <a:ext cx="402336" cy="402336"/>
          </a:xfrm>
          <a:prstGeom prst="rect">
            <a:avLst/>
          </a:prstGeom>
          <a:solidFill>
            <a:srgbClr val="4A9B3C"/>
          </a:solidFill>
          <a:ln w="9525">
            <a:solidFill>
              <a:srgbClr val="FFFFFF"/>
            </a:solidFill>
          </a:ln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188" name="tb"/>
          <p:cNvSpPr txBox="1"/>
          <p:nvPr/>
        </p:nvSpPr>
        <p:spPr>
          <a:xfrm>
            <a:off x="6400800" y="5029200"/>
            <a:ext cx="384048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0">
                <a:solidFill>
                  <a:srgbClr val="7A7A7A"/>
                </a:solidFill>
                <a:latin typeface="Calibri"/>
              </a:rPr>
              <a:t>8/8 columns filled by channels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9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190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Mechanism: feed as-stored, transpose in the kernel</a:t>
            </a:r>
          </a:p>
        </p:txBody>
      </p:sp>
      <p:sp>
        <p:nvSpPr>
          <p:cNvPr id="191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192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8</a:t>
            </a:r>
          </a:p>
        </p:txBody>
      </p:sp>
      <p:sp>
        <p:nvSpPr>
          <p:cNvPr id="193" name="tb"/>
          <p:cNvSpPr txBox="1"/>
          <p:nvPr/>
        </p:nvSpPr>
        <p:spPr>
          <a:xfrm>
            <a:off x="594360" y="1234440"/>
            <a:ext cx="1042416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600" b="0">
                <a:solidFill>
                  <a:srgbClr val="1A1A1A"/>
                </a:solidFill>
                <a:latin typeface="Calibri"/>
              </a:rPr>
              <a:t>The swap wants the activation as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[pixels, C_in]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, but it is stored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[C_in, pixels]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— a transpose. A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bf16 DMA transpose is illegal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(not 4-byte aligned).</a:t>
            </a:r>
          </a:p>
          <a:p>
            <a:pPr marL="228600" indent="-228600" lvl="0" algn="l">
              <a:spcBef>
                <a:spcPts val="700"/>
              </a:spcBef>
              <a:buFont typeface="Arial"/>
              <a:buChar char="▪"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Escape: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feed each operand as-stored and transpose the small r×s blocks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in-register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(aie::transpose) — exactly how GEMM already handles b_col_maj / c_col_maj.</a:t>
            </a:r>
          </a:p>
        </p:txBody>
      </p:sp>
      <p:sp>
        <p:nvSpPr>
          <p:cNvPr id="194" name="sh"/>
          <p:cNvSpPr/>
          <p:nvPr/>
        </p:nvSpPr>
        <p:spPr>
          <a:xfrm>
            <a:off x="914400" y="3657600"/>
            <a:ext cx="2377440" cy="457200"/>
          </a:xfrm>
          <a:prstGeom prst="rect">
            <a:avLst/>
          </a:prstGeom>
          <a:solidFill>
            <a:srgbClr val="3E8E2F"/>
          </a:solidFill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array axis</a:t>
            </a:r>
          </a:p>
        </p:txBody>
      </p:sp>
      <p:sp>
        <p:nvSpPr>
          <p:cNvPr id="195" name="sh"/>
          <p:cNvSpPr/>
          <p:nvPr/>
        </p:nvSpPr>
        <p:spPr>
          <a:xfrm>
            <a:off x="3291840" y="3657600"/>
            <a:ext cx="4206240" cy="457200"/>
          </a:xfrm>
          <a:prstGeom prst="rect">
            <a:avLst/>
          </a:prstGeom>
          <a:solidFill>
            <a:srgbClr val="3E8E2F"/>
          </a:solidFill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operand (as fed)</a:t>
            </a:r>
          </a:p>
        </p:txBody>
      </p:sp>
      <p:sp>
        <p:nvSpPr>
          <p:cNvPr id="196" name="sh"/>
          <p:cNvSpPr/>
          <p:nvPr/>
        </p:nvSpPr>
        <p:spPr>
          <a:xfrm>
            <a:off x="7498080" y="3657600"/>
            <a:ext cx="2377440" cy="457200"/>
          </a:xfrm>
          <a:prstGeom prst="rect">
            <a:avLst/>
          </a:prstGeom>
          <a:solidFill>
            <a:srgbClr val="3E8E2F"/>
          </a:solidFill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  <p:sp>
        <p:nvSpPr>
          <p:cNvPr id="197" name="sh"/>
          <p:cNvSpPr/>
          <p:nvPr/>
        </p:nvSpPr>
        <p:spPr>
          <a:xfrm>
            <a:off x="914400" y="41148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rows M̂ = pixels</a:t>
            </a:r>
          </a:p>
        </p:txBody>
      </p:sp>
      <p:sp>
        <p:nvSpPr>
          <p:cNvPr id="198" name="sh"/>
          <p:cNvSpPr/>
          <p:nvPr/>
        </p:nvSpPr>
        <p:spPr>
          <a:xfrm>
            <a:off x="3291840" y="411480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A = activation [C_in, pixels]</a:t>
            </a:r>
          </a:p>
        </p:txBody>
      </p:sp>
      <p:sp>
        <p:nvSpPr>
          <p:cNvPr id="199" name="sh"/>
          <p:cNvSpPr/>
          <p:nvPr/>
        </p:nvSpPr>
        <p:spPr>
          <a:xfrm>
            <a:off x="7498080" y="41148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a_col_maj  (new)</a:t>
            </a:r>
          </a:p>
        </p:txBody>
      </p:sp>
      <p:sp>
        <p:nvSpPr>
          <p:cNvPr id="200" name="sh"/>
          <p:cNvSpPr/>
          <p:nvPr/>
        </p:nvSpPr>
        <p:spPr>
          <a:xfrm>
            <a:off x="914400" y="4572000"/>
            <a:ext cx="2377440" cy="457200"/>
          </a:xfrm>
          <a:prstGeom prst="rect">
            <a:avLst/>
          </a:prstGeom>
          <a:solidFill>
            <a:srgbClr val="F4F5F3"/>
          </a:solidFill>
          <a:ln w="6350">
            <a:solidFill>
              <a:srgbClr val="D0D0D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cols N̂ = C_out</a:t>
            </a:r>
          </a:p>
        </p:txBody>
      </p:sp>
      <p:sp>
        <p:nvSpPr>
          <p:cNvPr id="201" name="sh"/>
          <p:cNvSpPr/>
          <p:nvPr/>
        </p:nvSpPr>
        <p:spPr>
          <a:xfrm>
            <a:off x="3291840" y="4572000"/>
            <a:ext cx="4206240" cy="457200"/>
          </a:xfrm>
          <a:prstGeom prst="rect">
            <a:avLst/>
          </a:prstGeom>
          <a:solidFill>
            <a:srgbClr val="F4F5F3"/>
          </a:solidFill>
          <a:ln w="6350">
            <a:solidFill>
              <a:srgbClr val="D0D0D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B = weights [C_out, C_in]</a:t>
            </a:r>
          </a:p>
        </p:txBody>
      </p:sp>
      <p:sp>
        <p:nvSpPr>
          <p:cNvPr id="202" name="sh"/>
          <p:cNvSpPr/>
          <p:nvPr/>
        </p:nvSpPr>
        <p:spPr>
          <a:xfrm>
            <a:off x="7498080" y="4572000"/>
            <a:ext cx="2377440" cy="457200"/>
          </a:xfrm>
          <a:prstGeom prst="rect">
            <a:avLst/>
          </a:prstGeom>
          <a:solidFill>
            <a:srgbClr val="F4F5F3"/>
          </a:solidFill>
          <a:ln w="6350">
            <a:solidFill>
              <a:srgbClr val="D0D0D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b_col_maj</a:t>
            </a:r>
          </a:p>
        </p:txBody>
      </p:sp>
      <p:sp>
        <p:nvSpPr>
          <p:cNvPr id="203" name="sh"/>
          <p:cNvSpPr/>
          <p:nvPr/>
        </p:nvSpPr>
        <p:spPr>
          <a:xfrm>
            <a:off x="914400" y="50292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output</a:t>
            </a:r>
          </a:p>
        </p:txBody>
      </p:sp>
      <p:sp>
        <p:nvSpPr>
          <p:cNvPr id="204" name="sh"/>
          <p:cNvSpPr/>
          <p:nvPr/>
        </p:nvSpPr>
        <p:spPr>
          <a:xfrm>
            <a:off x="3291840" y="502920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C = output [C_out, pixels] (NCHW)</a:t>
            </a:r>
          </a:p>
        </p:txBody>
      </p:sp>
      <p:sp>
        <p:nvSpPr>
          <p:cNvPr id="205" name="sh"/>
          <p:cNvSpPr/>
          <p:nvPr/>
        </p:nvSpPr>
        <p:spPr>
          <a:xfrm>
            <a:off x="7498080" y="5029200"/>
            <a:ext cx="23774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c_col_maj</a:t>
            </a:r>
          </a:p>
        </p:txBody>
      </p:sp>
      <p:sp>
        <p:nvSpPr>
          <p:cNvPr id="206" name="tb"/>
          <p:cNvSpPr txBox="1"/>
          <p:nvPr/>
        </p:nvSpPr>
        <p:spPr>
          <a:xfrm>
            <a:off x="914400" y="5760720"/>
            <a:ext cx="9144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200" b="0" i="1">
                <a:solidFill>
                  <a:srgbClr val="7A7A7A"/>
                </a:solidFill>
                <a:latin typeface="Calibri"/>
              </a:rPr>
              <a:t>a_col_maj is the exact mirror of b_col_maj — no host transpose anywhere.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208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When does the swap pay off?</a:t>
            </a:r>
          </a:p>
        </p:txBody>
      </p:sp>
      <p:sp>
        <p:nvSpPr>
          <p:cNvPr id="209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210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9</a:t>
            </a:r>
          </a:p>
        </p:txBody>
      </p:sp>
      <p:sp>
        <p:nvSpPr>
          <p:cNvPr id="211" name="tb"/>
          <p:cNvSpPr txBox="1"/>
          <p:nvPr/>
        </p:nvSpPr>
        <p:spPr>
          <a:xfrm>
            <a:off x="594360" y="1371600"/>
            <a:ext cx="10424160" cy="47548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700" b="0">
                <a:solidFill>
                  <a:srgbClr val="1A1A1A"/>
                </a:solidFill>
                <a:latin typeface="Calibri"/>
              </a:rPr>
              <a:t>The in-kernel transpose costs vector cycles — worth it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only when the columns are starved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28600" indent="-228600" lvl="0" algn="l">
              <a:spcBef>
                <a:spcPts val="900"/>
              </a:spcBef>
              <a:buFont typeface="Arial"/>
              <a:buChar char="▪"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Auto-heuristic: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swap  iff   ceil(pixels / tile_n) · 2  ≤  columns    AND    C_out fills more columns.</a:t>
            </a:r>
          </a:p>
          <a:p>
            <a:pPr marL="685800" indent="-228600" lvl="1" algn="l">
              <a:spcBef>
                <a:spcPts val="400"/>
              </a:spcBef>
              <a:buFont typeface="Arial"/>
              <a:buChar char="•"/>
            </a:pPr>
            <a:r>
              <a:rPr lang="en-US" sz="1500" b="0">
                <a:solidFill>
                  <a:srgbClr val="1A1A1A"/>
                </a:solidFill>
                <a:latin typeface="Calibri"/>
              </a:rPr>
              <a:t>i.e. the plain mapping leaves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at least half the columns idle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28600" indent="-228600" lvl="0" algn="l">
              <a:spcBef>
                <a:spcPts val="900"/>
              </a:spcBef>
              <a:buFont typeface="Arial"/>
              <a:buChar char="▪"/>
            </a:pPr>
            <a:r>
              <a:rPr lang="en-US" sz="1600" b="0">
                <a:solidFill>
                  <a:srgbClr val="1A1A1A"/>
                </a:solidFill>
                <a:latin typeface="Calibri"/>
              </a:rPr>
              <a:t>Wide / already-filled layers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auto-decline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the swap →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never a regression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685800" indent="-228600" lvl="1" algn="l">
              <a:spcBef>
                <a:spcPts val="400"/>
              </a:spcBef>
              <a:buFont typeface="Arial"/>
              <a:buChar char="•"/>
            </a:pPr>
            <a:r>
              <a:rPr lang="en-US" sz="1400" b="0">
                <a:solidFill>
                  <a:srgbClr val="7A7A7A"/>
                </a:solidFill>
                <a:latin typeface="Calibri"/>
              </a:rPr>
              <a:t>Override with swap_mn = True / False for sweeps.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2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213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Results — the cols→M swap</a:t>
            </a:r>
          </a:p>
        </p:txBody>
      </p:sp>
      <p:sp>
        <p:nvSpPr>
          <p:cNvPr id="214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215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10</a:t>
            </a:r>
          </a:p>
        </p:txBody>
      </p:sp>
      <p:sp>
        <p:nvSpPr>
          <p:cNvPr id="216" name="tb"/>
          <p:cNvSpPr txBox="1"/>
          <p:nvPr/>
        </p:nvSpPr>
        <p:spPr>
          <a:xfrm>
            <a:off x="594360" y="1188720"/>
            <a:ext cx="1042416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22/22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real-model shapes correct on device. Swap speedup (opt ÷ baseline, cols=8):</a:t>
            </a:r>
          </a:p>
        </p:txBody>
      </p:sp>
      <p:cxnSp>
        <p:nvCxnSpPr>
          <p:cNvPr id="217" name="ln"/>
          <p:cNvCxnSpPr/>
          <p:nvPr/>
        </p:nvCxnSpPr>
        <p:spPr>
          <a:xfrm>
            <a:off x="822960" y="5394960"/>
            <a:ext cx="6583680" cy="0"/>
          </a:xfrm>
          <a:prstGeom prst="line">
            <a:avLst/>
          </a:prstGeom>
          <a:ln w="12700">
            <a:solidFill>
              <a:srgbClr val="C3C2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218" name="sh"/>
          <p:cNvSpPr/>
          <p:nvPr/>
        </p:nvSpPr>
        <p:spPr>
          <a:xfrm>
            <a:off x="982849" y="2610221"/>
            <a:ext cx="617746" cy="2784739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19" name="tb"/>
          <p:cNvSpPr txBox="1"/>
          <p:nvPr/>
        </p:nvSpPr>
        <p:spPr>
          <a:xfrm>
            <a:off x="976849" y="2390765"/>
            <a:ext cx="629746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</a:rPr>
              <a:t>6.3×</a:t>
            </a:r>
          </a:p>
        </p:txBody>
      </p:sp>
      <p:sp>
        <p:nvSpPr>
          <p:cNvPr id="220" name="tb"/>
          <p:cNvSpPr txBox="1"/>
          <p:nvPr/>
        </p:nvSpPr>
        <p:spPr>
          <a:xfrm>
            <a:off x="822960" y="5422392"/>
            <a:ext cx="940525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768/3072/49</a:t>
            </a:r>
          </a:p>
        </p:txBody>
      </p:sp>
      <p:sp>
        <p:nvSpPr>
          <p:cNvPr id="221" name="sh"/>
          <p:cNvSpPr/>
          <p:nvPr/>
        </p:nvSpPr>
        <p:spPr>
          <a:xfrm>
            <a:off x="1923374" y="3360812"/>
            <a:ext cx="617746" cy="2034148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22" name="tb"/>
          <p:cNvSpPr txBox="1"/>
          <p:nvPr/>
        </p:nvSpPr>
        <p:spPr>
          <a:xfrm>
            <a:off x="1917374" y="3141356"/>
            <a:ext cx="629746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</a:rPr>
              <a:t>4.6×</a:t>
            </a:r>
          </a:p>
        </p:txBody>
      </p:sp>
      <p:sp>
        <p:nvSpPr>
          <p:cNvPr id="223" name="tb"/>
          <p:cNvSpPr txBox="1"/>
          <p:nvPr/>
        </p:nvSpPr>
        <p:spPr>
          <a:xfrm>
            <a:off x="1763485" y="5422392"/>
            <a:ext cx="940525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1024/2048/49</a:t>
            </a:r>
          </a:p>
        </p:txBody>
      </p:sp>
      <p:sp>
        <p:nvSpPr>
          <p:cNvPr id="224" name="sh"/>
          <p:cNvSpPr/>
          <p:nvPr/>
        </p:nvSpPr>
        <p:spPr>
          <a:xfrm>
            <a:off x="2863899" y="3440757"/>
            <a:ext cx="617746" cy="1954203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25" name="tb"/>
          <p:cNvSpPr txBox="1"/>
          <p:nvPr/>
        </p:nvSpPr>
        <p:spPr>
          <a:xfrm>
            <a:off x="2857899" y="3221301"/>
            <a:ext cx="629746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</a:rPr>
              <a:t>4.4×</a:t>
            </a:r>
          </a:p>
        </p:txBody>
      </p:sp>
      <p:sp>
        <p:nvSpPr>
          <p:cNvPr id="226" name="tb"/>
          <p:cNvSpPr txBox="1"/>
          <p:nvPr/>
        </p:nvSpPr>
        <p:spPr>
          <a:xfrm>
            <a:off x="2704010" y="5422392"/>
            <a:ext cx="940525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512/2048/49</a:t>
            </a:r>
          </a:p>
        </p:txBody>
      </p:sp>
      <p:sp>
        <p:nvSpPr>
          <p:cNvPr id="227" name="sh"/>
          <p:cNvSpPr/>
          <p:nvPr/>
        </p:nvSpPr>
        <p:spPr>
          <a:xfrm>
            <a:off x="3804424" y="3938191"/>
            <a:ext cx="617746" cy="1456769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28" name="tb"/>
          <p:cNvSpPr txBox="1"/>
          <p:nvPr/>
        </p:nvSpPr>
        <p:spPr>
          <a:xfrm>
            <a:off x="3798424" y="3718735"/>
            <a:ext cx="629746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</a:rPr>
              <a:t>3.3×</a:t>
            </a:r>
          </a:p>
        </p:txBody>
      </p:sp>
      <p:sp>
        <p:nvSpPr>
          <p:cNvPr id="229" name="tb"/>
          <p:cNvSpPr txBox="1"/>
          <p:nvPr/>
        </p:nvSpPr>
        <p:spPr>
          <a:xfrm>
            <a:off x="3644535" y="5422392"/>
            <a:ext cx="940525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2048/512/49</a:t>
            </a:r>
          </a:p>
        </p:txBody>
      </p:sp>
      <p:sp>
        <p:nvSpPr>
          <p:cNvPr id="230" name="sh"/>
          <p:cNvSpPr/>
          <p:nvPr/>
        </p:nvSpPr>
        <p:spPr>
          <a:xfrm>
            <a:off x="4744949" y="3960398"/>
            <a:ext cx="617746" cy="1434562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31" name="tb"/>
          <p:cNvSpPr txBox="1"/>
          <p:nvPr/>
        </p:nvSpPr>
        <p:spPr>
          <a:xfrm>
            <a:off x="4738949" y="3740942"/>
            <a:ext cx="629746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</a:rPr>
              <a:t>3.2×</a:t>
            </a:r>
          </a:p>
        </p:txBody>
      </p:sp>
      <p:sp>
        <p:nvSpPr>
          <p:cNvPr id="232" name="tb"/>
          <p:cNvSpPr txBox="1"/>
          <p:nvPr/>
        </p:nvSpPr>
        <p:spPr>
          <a:xfrm>
            <a:off x="4585060" y="5422392"/>
            <a:ext cx="940525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3072/768/49</a:t>
            </a:r>
          </a:p>
        </p:txBody>
      </p:sp>
      <p:sp>
        <p:nvSpPr>
          <p:cNvPr id="233" name="sh"/>
          <p:cNvSpPr/>
          <p:nvPr/>
        </p:nvSpPr>
        <p:spPr>
          <a:xfrm>
            <a:off x="5685474" y="4577748"/>
            <a:ext cx="617746" cy="817212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34" name="tb"/>
          <p:cNvSpPr txBox="1"/>
          <p:nvPr/>
        </p:nvSpPr>
        <p:spPr>
          <a:xfrm>
            <a:off x="5679474" y="4358292"/>
            <a:ext cx="629746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</a:rPr>
              <a:t>1.8×</a:t>
            </a:r>
          </a:p>
        </p:txBody>
      </p:sp>
      <p:sp>
        <p:nvSpPr>
          <p:cNvPr id="235" name="tb"/>
          <p:cNvSpPr txBox="1"/>
          <p:nvPr/>
        </p:nvSpPr>
        <p:spPr>
          <a:xfrm>
            <a:off x="5525585" y="5422392"/>
            <a:ext cx="940525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384/1536/196</a:t>
            </a:r>
          </a:p>
        </p:txBody>
      </p:sp>
      <p:sp>
        <p:nvSpPr>
          <p:cNvPr id="236" name="sh"/>
          <p:cNvSpPr/>
          <p:nvPr/>
        </p:nvSpPr>
        <p:spPr>
          <a:xfrm>
            <a:off x="6625999" y="4826465"/>
            <a:ext cx="617746" cy="568495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37" name="tb"/>
          <p:cNvSpPr txBox="1"/>
          <p:nvPr/>
        </p:nvSpPr>
        <p:spPr>
          <a:xfrm>
            <a:off x="6619999" y="4607009"/>
            <a:ext cx="629746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1">
                <a:solidFill>
                  <a:srgbClr val="1A1A1A"/>
                </a:solidFill>
                <a:latin typeface="Calibri"/>
              </a:rPr>
              <a:t>1.3×</a:t>
            </a:r>
          </a:p>
        </p:txBody>
      </p:sp>
      <p:sp>
        <p:nvSpPr>
          <p:cNvPr id="238" name="tb"/>
          <p:cNvSpPr txBox="1"/>
          <p:nvPr/>
        </p:nvSpPr>
        <p:spPr>
          <a:xfrm>
            <a:off x="6466110" y="5422392"/>
            <a:ext cx="940525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112/672/196</a:t>
            </a:r>
          </a:p>
        </p:txBody>
      </p:sp>
      <p:sp>
        <p:nvSpPr>
          <p:cNvPr id="239" name="tb"/>
          <p:cNvSpPr txBox="1"/>
          <p:nvPr/>
        </p:nvSpPr>
        <p:spPr>
          <a:xfrm>
            <a:off x="822960" y="5486400"/>
            <a:ext cx="65836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C_in / C_out / pixels   (7×7 tall layers gain most)</a:t>
            </a:r>
          </a:p>
        </p:txBody>
      </p:sp>
      <p:sp>
        <p:nvSpPr>
          <p:cNvPr id="240" name="sh"/>
          <p:cNvSpPr/>
          <p:nvPr/>
        </p:nvSpPr>
        <p:spPr>
          <a:xfrm rot="-480000">
            <a:off x="7589520" y="2331720"/>
            <a:ext cx="3108960" cy="1371600"/>
          </a:xfrm>
          <a:prstGeom prst="roundRect">
            <a:avLst/>
          </a:prstGeom>
          <a:solidFill>
            <a:srgbClr val="9FB9D8"/>
          </a:solidFill>
          <a:ln w="28575">
            <a:solidFill>
              <a:srgbClr val="1A1A1A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6.3× max
1.8× median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1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242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Results — why the swap exists</a:t>
            </a:r>
          </a:p>
        </p:txBody>
      </p:sp>
      <p:sp>
        <p:nvSpPr>
          <p:cNvPr id="243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244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11</a:t>
            </a:r>
          </a:p>
        </p:txBody>
      </p:sp>
      <p:sp>
        <p:nvSpPr>
          <p:cNvPr id="245" name="tb"/>
          <p:cNvSpPr txBox="1"/>
          <p:nvPr/>
        </p:nvSpPr>
        <p:spPr>
          <a:xfrm>
            <a:off x="594360" y="1188720"/>
            <a:ext cx="104241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500" b="0">
                <a:solidFill>
                  <a:srgbClr val="1A1A1A"/>
                </a:solidFill>
                <a:latin typeface="Calibri"/>
              </a:rPr>
              <a:t>Throughput vs columns for a tall layer (768/3072/49).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Baseline is flat/falling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— extra columns are padding.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The swap climbs.</a:t>
            </a:r>
          </a:p>
        </p:txBody>
      </p:sp>
      <p:cxnSp>
        <p:nvCxnSpPr>
          <p:cNvPr id="246" name="ln"/>
          <p:cNvCxnSpPr/>
          <p:nvPr/>
        </p:nvCxnSpPr>
        <p:spPr>
          <a:xfrm>
            <a:off x="822960" y="5303520"/>
            <a:ext cx="6217920" cy="0"/>
          </a:xfrm>
          <a:prstGeom prst="line">
            <a:avLst/>
          </a:prstGeom>
          <a:ln w="12700">
            <a:solidFill>
              <a:srgbClr val="C3C2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247" name="sh"/>
          <p:cNvSpPr/>
          <p:nvPr/>
        </p:nvSpPr>
        <p:spPr>
          <a:xfrm>
            <a:off x="1087221" y="4766648"/>
            <a:ext cx="509978" cy="536872"/>
          </a:xfrm>
          <a:prstGeom prst="rect">
            <a:avLst/>
          </a:prstGeom>
          <a:solidFill>
            <a:srgbClr val="9AA0A6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48" name="tb"/>
          <p:cNvSpPr txBox="1"/>
          <p:nvPr/>
        </p:nvSpPr>
        <p:spPr>
          <a:xfrm>
            <a:off x="1081221" y="4547192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211</a:t>
            </a:r>
          </a:p>
        </p:txBody>
      </p:sp>
      <p:sp>
        <p:nvSpPr>
          <p:cNvPr id="249" name="sh"/>
          <p:cNvSpPr/>
          <p:nvPr/>
        </p:nvSpPr>
        <p:spPr>
          <a:xfrm>
            <a:off x="1600199" y="4761560"/>
            <a:ext cx="509978" cy="541960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50" name="tb"/>
          <p:cNvSpPr txBox="1"/>
          <p:nvPr/>
        </p:nvSpPr>
        <p:spPr>
          <a:xfrm>
            <a:off x="1594199" y="4542104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213</a:t>
            </a:r>
          </a:p>
        </p:txBody>
      </p:sp>
      <p:sp>
        <p:nvSpPr>
          <p:cNvPr id="251" name="tb"/>
          <p:cNvSpPr txBox="1"/>
          <p:nvPr/>
        </p:nvSpPr>
        <p:spPr>
          <a:xfrm>
            <a:off x="822960" y="5330952"/>
            <a:ext cx="1554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0">
                <a:solidFill>
                  <a:srgbClr val="7A7A7A"/>
                </a:solidFill>
                <a:latin typeface="Calibri"/>
              </a:rPr>
              <a:t>cols=1</a:t>
            </a:r>
          </a:p>
        </p:txBody>
      </p:sp>
      <p:sp>
        <p:nvSpPr>
          <p:cNvPr id="252" name="sh"/>
          <p:cNvSpPr/>
          <p:nvPr/>
        </p:nvSpPr>
        <p:spPr>
          <a:xfrm>
            <a:off x="2641701" y="4779371"/>
            <a:ext cx="509978" cy="524149"/>
          </a:xfrm>
          <a:prstGeom prst="rect">
            <a:avLst/>
          </a:prstGeom>
          <a:solidFill>
            <a:srgbClr val="9AA0A6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53" name="tb"/>
          <p:cNvSpPr txBox="1"/>
          <p:nvPr/>
        </p:nvSpPr>
        <p:spPr>
          <a:xfrm>
            <a:off x="2635701" y="4559915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206</a:t>
            </a:r>
          </a:p>
        </p:txBody>
      </p:sp>
      <p:sp>
        <p:nvSpPr>
          <p:cNvPr id="254" name="sh"/>
          <p:cNvSpPr/>
          <p:nvPr/>
        </p:nvSpPr>
        <p:spPr>
          <a:xfrm>
            <a:off x="3154679" y="4776826"/>
            <a:ext cx="509978" cy="526694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55" name="tb"/>
          <p:cNvSpPr txBox="1"/>
          <p:nvPr/>
        </p:nvSpPr>
        <p:spPr>
          <a:xfrm>
            <a:off x="3148679" y="4557370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207</a:t>
            </a:r>
          </a:p>
        </p:txBody>
      </p:sp>
      <p:sp>
        <p:nvSpPr>
          <p:cNvPr id="256" name="tb"/>
          <p:cNvSpPr txBox="1"/>
          <p:nvPr/>
        </p:nvSpPr>
        <p:spPr>
          <a:xfrm>
            <a:off x="2377440" y="5330952"/>
            <a:ext cx="1554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0">
                <a:solidFill>
                  <a:srgbClr val="7A7A7A"/>
                </a:solidFill>
                <a:latin typeface="Calibri"/>
              </a:rPr>
              <a:t>cols=2</a:t>
            </a:r>
          </a:p>
        </p:txBody>
      </p:sp>
      <p:sp>
        <p:nvSpPr>
          <p:cNvPr id="257" name="sh"/>
          <p:cNvSpPr/>
          <p:nvPr/>
        </p:nvSpPr>
        <p:spPr>
          <a:xfrm>
            <a:off x="4196181" y="4827714"/>
            <a:ext cx="509978" cy="475806"/>
          </a:xfrm>
          <a:prstGeom prst="rect">
            <a:avLst/>
          </a:prstGeom>
          <a:solidFill>
            <a:srgbClr val="9AA0A6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58" name="tb"/>
          <p:cNvSpPr txBox="1"/>
          <p:nvPr/>
        </p:nvSpPr>
        <p:spPr>
          <a:xfrm>
            <a:off x="4190181" y="4608258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187</a:t>
            </a:r>
          </a:p>
        </p:txBody>
      </p:sp>
      <p:sp>
        <p:nvSpPr>
          <p:cNvPr id="259" name="sh"/>
          <p:cNvSpPr/>
          <p:nvPr/>
        </p:nvSpPr>
        <p:spPr>
          <a:xfrm>
            <a:off x="4709159" y="3649649"/>
            <a:ext cx="509978" cy="1653871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60" name="tb"/>
          <p:cNvSpPr txBox="1"/>
          <p:nvPr/>
        </p:nvSpPr>
        <p:spPr>
          <a:xfrm>
            <a:off x="4703159" y="3430193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650</a:t>
            </a:r>
          </a:p>
        </p:txBody>
      </p:sp>
      <p:sp>
        <p:nvSpPr>
          <p:cNvPr id="261" name="tb"/>
          <p:cNvSpPr txBox="1"/>
          <p:nvPr/>
        </p:nvSpPr>
        <p:spPr>
          <a:xfrm>
            <a:off x="3931920" y="5330952"/>
            <a:ext cx="1554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0">
                <a:solidFill>
                  <a:srgbClr val="7A7A7A"/>
                </a:solidFill>
                <a:latin typeface="Calibri"/>
              </a:rPr>
              <a:t>cols=4</a:t>
            </a:r>
          </a:p>
        </p:txBody>
      </p:sp>
      <p:sp>
        <p:nvSpPr>
          <p:cNvPr id="262" name="sh"/>
          <p:cNvSpPr/>
          <p:nvPr/>
        </p:nvSpPr>
        <p:spPr>
          <a:xfrm>
            <a:off x="5750661" y="4883692"/>
            <a:ext cx="509978" cy="419828"/>
          </a:xfrm>
          <a:prstGeom prst="rect">
            <a:avLst/>
          </a:prstGeom>
          <a:solidFill>
            <a:srgbClr val="9AA0A6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63" name="tb"/>
          <p:cNvSpPr txBox="1"/>
          <p:nvPr/>
        </p:nvSpPr>
        <p:spPr>
          <a:xfrm>
            <a:off x="5744661" y="4664236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165</a:t>
            </a:r>
          </a:p>
        </p:txBody>
      </p:sp>
      <p:sp>
        <p:nvSpPr>
          <p:cNvPr id="264" name="sh"/>
          <p:cNvSpPr/>
          <p:nvPr/>
        </p:nvSpPr>
        <p:spPr>
          <a:xfrm>
            <a:off x="6263639" y="2570816"/>
            <a:ext cx="509978" cy="2732704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65" name="tb"/>
          <p:cNvSpPr txBox="1"/>
          <p:nvPr/>
        </p:nvSpPr>
        <p:spPr>
          <a:xfrm>
            <a:off x="6257639" y="2351360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1074</a:t>
            </a:r>
          </a:p>
        </p:txBody>
      </p:sp>
      <p:sp>
        <p:nvSpPr>
          <p:cNvPr id="266" name="tb"/>
          <p:cNvSpPr txBox="1"/>
          <p:nvPr/>
        </p:nvSpPr>
        <p:spPr>
          <a:xfrm>
            <a:off x="5486400" y="5330952"/>
            <a:ext cx="1554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50" b="0">
                <a:solidFill>
                  <a:srgbClr val="7A7A7A"/>
                </a:solidFill>
                <a:latin typeface="Calibri"/>
              </a:rPr>
              <a:t>cols=8</a:t>
            </a:r>
          </a:p>
        </p:txBody>
      </p:sp>
      <p:sp>
        <p:nvSpPr>
          <p:cNvPr id="267" name="tb"/>
          <p:cNvSpPr txBox="1"/>
          <p:nvPr/>
        </p:nvSpPr>
        <p:spPr>
          <a:xfrm>
            <a:off x="822960" y="5394960"/>
            <a:ext cx="62179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GF/s   —   gray = plain GEMM,  green = swap</a:t>
            </a:r>
          </a:p>
        </p:txBody>
      </p:sp>
      <p:sp>
        <p:nvSpPr>
          <p:cNvPr id="268" name="sh"/>
          <p:cNvSpPr/>
          <p:nvPr/>
        </p:nvSpPr>
        <p:spPr>
          <a:xfrm rot="-480000">
            <a:off x="7543800" y="2240280"/>
            <a:ext cx="3200400" cy="1371600"/>
          </a:xfrm>
          <a:prstGeom prst="roundRect">
            <a:avLst/>
          </a:prstGeom>
          <a:solidFill>
            <a:srgbClr val="9FB9D8"/>
          </a:solidFill>
          <a:ln w="28575">
            <a:solidFill>
              <a:srgbClr val="1A1A1A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165 → 1074
GF/s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9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270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Results — vectorized vs scalar kernel</a:t>
            </a:r>
          </a:p>
        </p:txBody>
      </p:sp>
      <p:sp>
        <p:nvSpPr>
          <p:cNvPr id="271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272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12</a:t>
            </a:r>
          </a:p>
        </p:txBody>
      </p:sp>
      <p:sp>
        <p:nvSpPr>
          <p:cNvPr id="273" name="tb"/>
          <p:cNvSpPr txBox="1"/>
          <p:nvPr/>
        </p:nvSpPr>
        <p:spPr>
          <a:xfrm>
            <a:off x="594360" y="1188720"/>
            <a:ext cx="1042416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600" b="0">
                <a:solidFill>
                  <a:srgbClr val="1A1A1A"/>
                </a:solidFill>
                <a:latin typeface="Calibri"/>
              </a:rPr>
              <a:t>The scalar oracle is pinned at ~6.6 GF/s; the vectorized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aie::mmul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kernel reaches 575–1042 GF/s.</a:t>
            </a:r>
          </a:p>
        </p:txBody>
      </p:sp>
      <p:cxnSp>
        <p:nvCxnSpPr>
          <p:cNvPr id="274" name="ln"/>
          <p:cNvCxnSpPr/>
          <p:nvPr/>
        </p:nvCxnSpPr>
        <p:spPr>
          <a:xfrm>
            <a:off x="822960" y="5303520"/>
            <a:ext cx="6217920" cy="0"/>
          </a:xfrm>
          <a:prstGeom prst="line">
            <a:avLst/>
          </a:prstGeom>
          <a:ln w="12700">
            <a:solidFill>
              <a:srgbClr val="C3C2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275" name="sh"/>
          <p:cNvSpPr/>
          <p:nvPr/>
        </p:nvSpPr>
        <p:spPr>
          <a:xfrm>
            <a:off x="1087221" y="5285698"/>
            <a:ext cx="509978" cy="17822"/>
          </a:xfrm>
          <a:prstGeom prst="rect">
            <a:avLst/>
          </a:prstGeom>
          <a:solidFill>
            <a:srgbClr val="B0392E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76" name="tb"/>
          <p:cNvSpPr txBox="1"/>
          <p:nvPr/>
        </p:nvSpPr>
        <p:spPr>
          <a:xfrm>
            <a:off x="1081221" y="5066242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277" name="sh"/>
          <p:cNvSpPr/>
          <p:nvPr/>
        </p:nvSpPr>
        <p:spPr>
          <a:xfrm>
            <a:off x="1600199" y="2531725"/>
            <a:ext cx="509978" cy="2771795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78" name="tb"/>
          <p:cNvSpPr txBox="1"/>
          <p:nvPr/>
        </p:nvSpPr>
        <p:spPr>
          <a:xfrm>
            <a:off x="1594199" y="2312269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1042</a:t>
            </a:r>
          </a:p>
        </p:txBody>
      </p:sp>
      <p:sp>
        <p:nvSpPr>
          <p:cNvPr id="279" name="tb"/>
          <p:cNvSpPr txBox="1"/>
          <p:nvPr/>
        </p:nvSpPr>
        <p:spPr>
          <a:xfrm>
            <a:off x="822960" y="5330952"/>
            <a:ext cx="1554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0">
                <a:solidFill>
                  <a:srgbClr val="7A7A7A"/>
                </a:solidFill>
                <a:latin typeface="Calibri"/>
              </a:rPr>
              <a:t>768/3072/49</a:t>
            </a:r>
          </a:p>
        </p:txBody>
      </p:sp>
      <p:sp>
        <p:nvSpPr>
          <p:cNvPr id="280" name="sh"/>
          <p:cNvSpPr/>
          <p:nvPr/>
        </p:nvSpPr>
        <p:spPr>
          <a:xfrm>
            <a:off x="2641701" y="5285698"/>
            <a:ext cx="509978" cy="17822"/>
          </a:xfrm>
          <a:prstGeom prst="rect">
            <a:avLst/>
          </a:prstGeom>
          <a:solidFill>
            <a:srgbClr val="B0392E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81" name="tb"/>
          <p:cNvSpPr txBox="1"/>
          <p:nvPr/>
        </p:nvSpPr>
        <p:spPr>
          <a:xfrm>
            <a:off x="2635701" y="5066242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282" name="sh"/>
          <p:cNvSpPr/>
          <p:nvPr/>
        </p:nvSpPr>
        <p:spPr>
          <a:xfrm>
            <a:off x="3154679" y="3034478"/>
            <a:ext cx="509978" cy="2269042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83" name="tb"/>
          <p:cNvSpPr txBox="1"/>
          <p:nvPr/>
        </p:nvSpPr>
        <p:spPr>
          <a:xfrm>
            <a:off x="3148679" y="2815022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853</a:t>
            </a:r>
          </a:p>
        </p:txBody>
      </p:sp>
      <p:sp>
        <p:nvSpPr>
          <p:cNvPr id="284" name="tb"/>
          <p:cNvSpPr txBox="1"/>
          <p:nvPr/>
        </p:nvSpPr>
        <p:spPr>
          <a:xfrm>
            <a:off x="2377440" y="5330952"/>
            <a:ext cx="1554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0">
                <a:solidFill>
                  <a:srgbClr val="7A7A7A"/>
                </a:solidFill>
                <a:latin typeface="Calibri"/>
              </a:rPr>
              <a:t>384/1536/196</a:t>
            </a:r>
          </a:p>
        </p:txBody>
      </p:sp>
      <p:sp>
        <p:nvSpPr>
          <p:cNvPr id="285" name="sh"/>
          <p:cNvSpPr/>
          <p:nvPr/>
        </p:nvSpPr>
        <p:spPr>
          <a:xfrm>
            <a:off x="4196181" y="5285964"/>
            <a:ext cx="509978" cy="17556"/>
          </a:xfrm>
          <a:prstGeom prst="rect">
            <a:avLst/>
          </a:prstGeom>
          <a:solidFill>
            <a:srgbClr val="B0392E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86" name="tb"/>
          <p:cNvSpPr txBox="1"/>
          <p:nvPr/>
        </p:nvSpPr>
        <p:spPr>
          <a:xfrm>
            <a:off x="4190181" y="5066508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287" name="sh"/>
          <p:cNvSpPr/>
          <p:nvPr/>
        </p:nvSpPr>
        <p:spPr>
          <a:xfrm>
            <a:off x="4709159" y="3598414"/>
            <a:ext cx="509978" cy="1705106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88" name="tb"/>
          <p:cNvSpPr txBox="1"/>
          <p:nvPr/>
        </p:nvSpPr>
        <p:spPr>
          <a:xfrm>
            <a:off x="4703159" y="3378958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641</a:t>
            </a:r>
          </a:p>
        </p:txBody>
      </p:sp>
      <p:sp>
        <p:nvSpPr>
          <p:cNvPr id="289" name="tb"/>
          <p:cNvSpPr txBox="1"/>
          <p:nvPr/>
        </p:nvSpPr>
        <p:spPr>
          <a:xfrm>
            <a:off x="3931920" y="5330952"/>
            <a:ext cx="1554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0">
                <a:solidFill>
                  <a:srgbClr val="7A7A7A"/>
                </a:solidFill>
                <a:latin typeface="Calibri"/>
              </a:rPr>
              <a:t>2048/512/49</a:t>
            </a:r>
          </a:p>
        </p:txBody>
      </p:sp>
      <p:sp>
        <p:nvSpPr>
          <p:cNvPr id="290" name="sh"/>
          <p:cNvSpPr/>
          <p:nvPr/>
        </p:nvSpPr>
        <p:spPr>
          <a:xfrm>
            <a:off x="5750661" y="5283570"/>
            <a:ext cx="509978" cy="19950"/>
          </a:xfrm>
          <a:prstGeom prst="rect">
            <a:avLst/>
          </a:prstGeom>
          <a:solidFill>
            <a:srgbClr val="B0392E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91" name="tb"/>
          <p:cNvSpPr txBox="1"/>
          <p:nvPr/>
        </p:nvSpPr>
        <p:spPr>
          <a:xfrm>
            <a:off x="5744661" y="5064114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8</a:t>
            </a:r>
          </a:p>
        </p:txBody>
      </p:sp>
      <p:sp>
        <p:nvSpPr>
          <p:cNvPr id="292" name="sh"/>
          <p:cNvSpPr/>
          <p:nvPr/>
        </p:nvSpPr>
        <p:spPr>
          <a:xfrm>
            <a:off x="6263639" y="3412209"/>
            <a:ext cx="509978" cy="1891311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293" name="tb"/>
          <p:cNvSpPr txBox="1"/>
          <p:nvPr/>
        </p:nvSpPr>
        <p:spPr>
          <a:xfrm>
            <a:off x="6257639" y="3192753"/>
            <a:ext cx="521978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1">
                <a:solidFill>
                  <a:srgbClr val="1A1A1A"/>
                </a:solidFill>
                <a:latin typeface="Calibri"/>
              </a:rPr>
              <a:t>711</a:t>
            </a:r>
          </a:p>
        </p:txBody>
      </p:sp>
      <p:sp>
        <p:nvSpPr>
          <p:cNvPr id="294" name="tb"/>
          <p:cNvSpPr txBox="1"/>
          <p:nvPr/>
        </p:nvSpPr>
        <p:spPr>
          <a:xfrm>
            <a:off x="5486400" y="5330952"/>
            <a:ext cx="15544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950" b="0">
                <a:solidFill>
                  <a:srgbClr val="7A7A7A"/>
                </a:solidFill>
                <a:latin typeface="Calibri"/>
              </a:rPr>
              <a:t>64/256/3136</a:t>
            </a:r>
          </a:p>
        </p:txBody>
      </p:sp>
      <p:sp>
        <p:nvSpPr>
          <p:cNvPr id="295" name="tb"/>
          <p:cNvSpPr txBox="1"/>
          <p:nvPr/>
        </p:nvSpPr>
        <p:spPr>
          <a:xfrm>
            <a:off x="822960" y="5394960"/>
            <a:ext cx="62179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GF/s   —   red = scalar,  green = vectorized</a:t>
            </a:r>
          </a:p>
        </p:txBody>
      </p:sp>
      <p:sp>
        <p:nvSpPr>
          <p:cNvPr id="296" name="sh"/>
          <p:cNvSpPr/>
          <p:nvPr/>
        </p:nvSpPr>
        <p:spPr>
          <a:xfrm rot="-480000">
            <a:off x="7543800" y="2240280"/>
            <a:ext cx="3200400" cy="1371600"/>
          </a:xfrm>
          <a:prstGeom prst="roundRect">
            <a:avLst/>
          </a:prstGeom>
          <a:solidFill>
            <a:srgbClr val="9FB9D8"/>
          </a:solidFill>
          <a:ln w="28575">
            <a:solidFill>
              <a:srgbClr val="1A1A1A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2600" b="1">
                <a:solidFill>
                  <a:srgbClr val="FFFFFF"/>
                </a:solidFill>
                <a:latin typeface="Calibri"/>
              </a:rPr>
              <a:t>97× median
156× max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298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How close to peak? Occupancy is the limit</a:t>
            </a:r>
          </a:p>
        </p:txBody>
      </p:sp>
      <p:sp>
        <p:nvSpPr>
          <p:cNvPr id="299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300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13</a:t>
            </a:r>
          </a:p>
        </p:txBody>
      </p:sp>
      <p:sp>
        <p:nvSpPr>
          <p:cNvPr id="301" name="tb"/>
          <p:cNvSpPr txBox="1"/>
          <p:nvPr/>
        </p:nvSpPr>
        <p:spPr>
          <a:xfrm>
            <a:off x="594360" y="1188720"/>
            <a:ext cx="1042416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500" b="0">
                <a:solidFill>
                  <a:srgbClr val="1A1A1A"/>
                </a:solidFill>
                <a:latin typeface="Calibri"/>
              </a:rPr>
              <a:t>Same kernel, growing problem: throughput climbs to the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~2.2 TFLOP/s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practical peak — but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real 1×1 convs are small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(N ≤ 196) and can't get there.</a:t>
            </a:r>
          </a:p>
        </p:txBody>
      </p:sp>
      <p:cxnSp>
        <p:nvCxnSpPr>
          <p:cNvPr id="302" name="ln"/>
          <p:cNvCxnSpPr/>
          <p:nvPr/>
        </p:nvCxnSpPr>
        <p:spPr>
          <a:xfrm>
            <a:off x="822960" y="5212080"/>
            <a:ext cx="6309360" cy="0"/>
          </a:xfrm>
          <a:prstGeom prst="line">
            <a:avLst/>
          </a:prstGeom>
          <a:ln w="12700">
            <a:solidFill>
              <a:srgbClr val="C3C2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303" name="sh"/>
          <p:cNvSpPr/>
          <p:nvPr/>
        </p:nvSpPr>
        <p:spPr>
          <a:xfrm>
            <a:off x="1037478" y="4992624"/>
            <a:ext cx="829835" cy="219456"/>
          </a:xfrm>
          <a:prstGeom prst="rect">
            <a:avLst/>
          </a:prstGeom>
          <a:solidFill>
            <a:srgbClr val="2E6DA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04" name="tb"/>
          <p:cNvSpPr txBox="1"/>
          <p:nvPr/>
        </p:nvSpPr>
        <p:spPr>
          <a:xfrm>
            <a:off x="1031478" y="4773168"/>
            <a:ext cx="841835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8%</a:t>
            </a:r>
          </a:p>
        </p:txBody>
      </p:sp>
      <p:sp>
        <p:nvSpPr>
          <p:cNvPr id="305" name="tb"/>
          <p:cNvSpPr txBox="1"/>
          <p:nvPr/>
        </p:nvSpPr>
        <p:spPr>
          <a:xfrm>
            <a:off x="822960" y="5239512"/>
            <a:ext cx="126187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N=49</a:t>
            </a:r>
          </a:p>
        </p:txBody>
      </p:sp>
      <p:sp>
        <p:nvSpPr>
          <p:cNvPr id="306" name="sh"/>
          <p:cNvSpPr/>
          <p:nvPr/>
        </p:nvSpPr>
        <p:spPr>
          <a:xfrm>
            <a:off x="2299350" y="4169664"/>
            <a:ext cx="829835" cy="1042416"/>
          </a:xfrm>
          <a:prstGeom prst="rect">
            <a:avLst/>
          </a:prstGeom>
          <a:solidFill>
            <a:srgbClr val="2E6DA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07" name="tb"/>
          <p:cNvSpPr txBox="1"/>
          <p:nvPr/>
        </p:nvSpPr>
        <p:spPr>
          <a:xfrm>
            <a:off x="2293350" y="3950208"/>
            <a:ext cx="841835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38%</a:t>
            </a:r>
          </a:p>
        </p:txBody>
      </p:sp>
      <p:sp>
        <p:nvSpPr>
          <p:cNvPr id="308" name="tb"/>
          <p:cNvSpPr txBox="1"/>
          <p:nvPr/>
        </p:nvSpPr>
        <p:spPr>
          <a:xfrm>
            <a:off x="2084832" y="5239512"/>
            <a:ext cx="126187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N=196</a:t>
            </a:r>
          </a:p>
        </p:txBody>
      </p:sp>
      <p:sp>
        <p:nvSpPr>
          <p:cNvPr id="309" name="sh"/>
          <p:cNvSpPr/>
          <p:nvPr/>
        </p:nvSpPr>
        <p:spPr>
          <a:xfrm>
            <a:off x="3561222" y="2907792"/>
            <a:ext cx="829835" cy="2304288"/>
          </a:xfrm>
          <a:prstGeom prst="rect">
            <a:avLst/>
          </a:prstGeom>
          <a:solidFill>
            <a:srgbClr val="2E6DA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10" name="tb"/>
          <p:cNvSpPr txBox="1"/>
          <p:nvPr/>
        </p:nvSpPr>
        <p:spPr>
          <a:xfrm>
            <a:off x="3555222" y="2688336"/>
            <a:ext cx="841835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84%</a:t>
            </a:r>
          </a:p>
        </p:txBody>
      </p:sp>
      <p:sp>
        <p:nvSpPr>
          <p:cNvPr id="311" name="tb"/>
          <p:cNvSpPr txBox="1"/>
          <p:nvPr/>
        </p:nvSpPr>
        <p:spPr>
          <a:xfrm>
            <a:off x="3346704" y="5239512"/>
            <a:ext cx="126187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N=784</a:t>
            </a:r>
          </a:p>
        </p:txBody>
      </p:sp>
      <p:sp>
        <p:nvSpPr>
          <p:cNvPr id="312" name="sh"/>
          <p:cNvSpPr/>
          <p:nvPr/>
        </p:nvSpPr>
        <p:spPr>
          <a:xfrm>
            <a:off x="4823094" y="2715768"/>
            <a:ext cx="829835" cy="2496312"/>
          </a:xfrm>
          <a:prstGeom prst="rect">
            <a:avLst/>
          </a:prstGeom>
          <a:solidFill>
            <a:srgbClr val="2E6DA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13" name="tb"/>
          <p:cNvSpPr txBox="1"/>
          <p:nvPr/>
        </p:nvSpPr>
        <p:spPr>
          <a:xfrm>
            <a:off x="4817094" y="2496312"/>
            <a:ext cx="841835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91%</a:t>
            </a:r>
          </a:p>
        </p:txBody>
      </p:sp>
      <p:sp>
        <p:nvSpPr>
          <p:cNvPr id="314" name="tb"/>
          <p:cNvSpPr txBox="1"/>
          <p:nvPr/>
        </p:nvSpPr>
        <p:spPr>
          <a:xfrm>
            <a:off x="4608576" y="5239512"/>
            <a:ext cx="126187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N=3136</a:t>
            </a:r>
          </a:p>
        </p:txBody>
      </p:sp>
      <p:sp>
        <p:nvSpPr>
          <p:cNvPr id="315" name="sh"/>
          <p:cNvSpPr/>
          <p:nvPr/>
        </p:nvSpPr>
        <p:spPr>
          <a:xfrm>
            <a:off x="6084966" y="2468880"/>
            <a:ext cx="829835" cy="2743200"/>
          </a:xfrm>
          <a:prstGeom prst="rect">
            <a:avLst/>
          </a:prstGeom>
          <a:solidFill>
            <a:srgbClr val="2E6DA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16" name="tb"/>
          <p:cNvSpPr txBox="1"/>
          <p:nvPr/>
        </p:nvSpPr>
        <p:spPr>
          <a:xfrm>
            <a:off x="6078966" y="2249424"/>
            <a:ext cx="841835" cy="21945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100%</a:t>
            </a:r>
          </a:p>
        </p:txBody>
      </p:sp>
      <p:sp>
        <p:nvSpPr>
          <p:cNvPr id="317" name="tb"/>
          <p:cNvSpPr txBox="1"/>
          <p:nvPr/>
        </p:nvSpPr>
        <p:spPr>
          <a:xfrm>
            <a:off x="5870448" y="5239512"/>
            <a:ext cx="1261872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N=9216</a:t>
            </a:r>
          </a:p>
        </p:txBody>
      </p:sp>
      <p:sp>
        <p:nvSpPr>
          <p:cNvPr id="318" name="tb"/>
          <p:cNvSpPr txBox="1"/>
          <p:nvPr/>
        </p:nvSpPr>
        <p:spPr>
          <a:xfrm>
            <a:off x="822960" y="5486400"/>
            <a:ext cx="630936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% of empirical peak   —   real convs live at the left (7–38%)</a:t>
            </a:r>
          </a:p>
        </p:txBody>
      </p:sp>
      <p:sp>
        <p:nvSpPr>
          <p:cNvPr id="319" name="tb"/>
          <p:cNvSpPr txBox="1"/>
          <p:nvPr/>
        </p:nvSpPr>
        <p:spPr>
          <a:xfrm>
            <a:off x="7589520" y="2468880"/>
            <a:ext cx="3200400" cy="2926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0"/>
              </a:spcBef>
              <a:buFont typeface="Arial"/>
              <a:buChar char="▪"/>
            </a:pPr>
            <a:r>
              <a:rPr lang="en-US" sz="1400" b="1">
                <a:solidFill>
                  <a:srgbClr val="1A1A1A"/>
                </a:solidFill>
                <a:latin typeface="Calibri"/>
              </a:rPr>
              <a:t>Latency / occupancy-bound</a:t>
            </a:r>
            <a:r>
              <a:rPr lang="en-US" sz="1400" b="0">
                <a:solidFill>
                  <a:srgbClr val="1A1A1A"/>
                </a:solidFill>
                <a:latin typeface="Calibri"/>
              </a:rPr>
              <a:t>, not bandwidth-bound (eff. BW ≪ peak).</a:t>
            </a:r>
          </a:p>
          <a:p>
            <a:pPr marL="228600" indent="-228600" lvl="0" algn="l">
              <a:spcBef>
                <a:spcPts val="800"/>
              </a:spcBef>
              <a:buFont typeface="Arial"/>
              <a:buChar char="▪"/>
            </a:pPr>
            <a:r>
              <a:rPr lang="en-US" sz="1400" b="0">
                <a:solidFill>
                  <a:srgbClr val="1A1A1A"/>
                </a:solidFill>
                <a:latin typeface="Calibri"/>
              </a:rPr>
              <a:t>Can't grow the input → </a:t>
            </a:r>
            <a:r>
              <a:rPr lang="en-US" sz="1400" b="1">
                <a:solidFill>
                  <a:srgbClr val="1A1A1A"/>
                </a:solidFill>
                <a:latin typeface="Calibri"/>
              </a:rPr>
              <a:t>recover occupancy structurally</a:t>
            </a:r>
            <a:r>
              <a:rPr lang="en-US" sz="1400" b="0">
                <a:solidFill>
                  <a:srgbClr val="1A1A1A"/>
                </a:solidFill>
                <a:latin typeface="Calibri"/>
              </a:rPr>
              <a:t> with the swap.</a:t>
            </a:r>
          </a:p>
          <a:p>
            <a:pPr marL="685800" indent="-228600" lvl="1" algn="l">
              <a:spcBef>
                <a:spcPts val="400"/>
              </a:spcBef>
              <a:buFont typeface="Arial"/>
              <a:buChar char="•"/>
            </a:pPr>
            <a:r>
              <a:rPr lang="en-US" sz="1300" b="0">
                <a:solidFill>
                  <a:srgbClr val="7A7A7A"/>
                </a:solidFill>
                <a:latin typeface="Calibri"/>
              </a:rPr>
              <a:t>A swapped N=49 layer ≈ a plain N=196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0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321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Putting it together: swap × tile tuning</a:t>
            </a:r>
          </a:p>
        </p:txBody>
      </p:sp>
      <p:sp>
        <p:nvSpPr>
          <p:cNvPr id="322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323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14</a:t>
            </a:r>
          </a:p>
        </p:txBody>
      </p:sp>
      <p:sp>
        <p:nvSpPr>
          <p:cNvPr id="324" name="tb"/>
          <p:cNvSpPr txBox="1"/>
          <p:nvPr/>
        </p:nvSpPr>
        <p:spPr>
          <a:xfrm>
            <a:off x="594360" y="1188720"/>
            <a:ext cx="1042416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450" b="0">
                <a:solidFill>
                  <a:srgbClr val="1A1A1A"/>
                </a:solidFill>
                <a:latin typeface="Calibri"/>
              </a:rPr>
              <a:t>Total speedup over vanilla GEMM = </a:t>
            </a:r>
            <a:r>
              <a:rPr lang="en-US" sz="1450" b="1">
                <a:solidFill>
                  <a:srgbClr val="1A1A1A"/>
                </a:solidFill>
                <a:latin typeface="Calibri"/>
              </a:rPr>
              <a:t>swap × tile tuning</a:t>
            </a:r>
            <a:r>
              <a:rPr lang="en-US" sz="1450" b="0">
                <a:solidFill>
                  <a:srgbClr val="1A1A1A"/>
                </a:solidFill>
                <a:latin typeface="Calibri"/>
              </a:rPr>
              <a:t> (vectorization excluded — scalar is not a real baseline).</a:t>
            </a:r>
          </a:p>
        </p:txBody>
      </p:sp>
      <p:cxnSp>
        <p:nvCxnSpPr>
          <p:cNvPr id="325" name="ln"/>
          <p:cNvCxnSpPr/>
          <p:nvPr/>
        </p:nvCxnSpPr>
        <p:spPr>
          <a:xfrm>
            <a:off x="822960" y="5212080"/>
            <a:ext cx="6035040" cy="0"/>
          </a:xfrm>
          <a:prstGeom prst="line">
            <a:avLst/>
          </a:prstGeom>
          <a:ln w="12700">
            <a:solidFill>
              <a:srgbClr val="C3C2B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cxnSp>
      <p:sp>
        <p:nvSpPr>
          <p:cNvPr id="326" name="sh"/>
          <p:cNvSpPr/>
          <p:nvPr/>
        </p:nvSpPr>
        <p:spPr>
          <a:xfrm>
            <a:off x="981379" y="2591149"/>
            <a:ext cx="437540" cy="2620931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27" name="sh"/>
          <p:cNvSpPr/>
          <p:nvPr/>
        </p:nvSpPr>
        <p:spPr>
          <a:xfrm>
            <a:off x="981379" y="2407224"/>
            <a:ext cx="437540" cy="183925"/>
          </a:xfrm>
          <a:prstGeom prst="rect">
            <a:avLst/>
          </a:prstGeom>
          <a:solidFill>
            <a:srgbClr val="EB683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28" name="tb"/>
          <p:cNvSpPr txBox="1"/>
          <p:nvPr/>
        </p:nvSpPr>
        <p:spPr>
          <a:xfrm>
            <a:off x="973379" y="2196912"/>
            <a:ext cx="453540" cy="2103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6.7×</a:t>
            </a:r>
          </a:p>
        </p:txBody>
      </p:sp>
      <p:sp>
        <p:nvSpPr>
          <p:cNvPr id="329" name="tb"/>
          <p:cNvSpPr txBox="1"/>
          <p:nvPr/>
        </p:nvSpPr>
        <p:spPr>
          <a:xfrm>
            <a:off x="822960" y="5230368"/>
            <a:ext cx="7543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750" b="0">
                <a:solidFill>
                  <a:srgbClr val="7A7A7A"/>
                </a:solidFill>
                <a:latin typeface="Calibri"/>
              </a:rPr>
              <a:t>768/3072/49</a:t>
            </a:r>
          </a:p>
        </p:txBody>
      </p:sp>
      <p:sp>
        <p:nvSpPr>
          <p:cNvPr id="330" name="sh"/>
          <p:cNvSpPr/>
          <p:nvPr/>
        </p:nvSpPr>
        <p:spPr>
          <a:xfrm>
            <a:off x="1735759" y="3297588"/>
            <a:ext cx="437540" cy="1914492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31" name="sh"/>
          <p:cNvSpPr/>
          <p:nvPr/>
        </p:nvSpPr>
        <p:spPr>
          <a:xfrm>
            <a:off x="1735759" y="3201446"/>
            <a:ext cx="437540" cy="96142"/>
          </a:xfrm>
          <a:prstGeom prst="rect">
            <a:avLst/>
          </a:prstGeom>
          <a:solidFill>
            <a:srgbClr val="EB683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32" name="tb"/>
          <p:cNvSpPr txBox="1"/>
          <p:nvPr/>
        </p:nvSpPr>
        <p:spPr>
          <a:xfrm>
            <a:off x="1727759" y="2991134"/>
            <a:ext cx="453540" cy="2103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4.8×</a:t>
            </a:r>
          </a:p>
        </p:txBody>
      </p:sp>
      <p:sp>
        <p:nvSpPr>
          <p:cNvPr id="333" name="tb"/>
          <p:cNvSpPr txBox="1"/>
          <p:nvPr/>
        </p:nvSpPr>
        <p:spPr>
          <a:xfrm>
            <a:off x="1577340" y="5230368"/>
            <a:ext cx="7543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750" b="0">
                <a:solidFill>
                  <a:srgbClr val="7A7A7A"/>
                </a:solidFill>
                <a:latin typeface="Calibri"/>
              </a:rPr>
              <a:t>1024/2048/49</a:t>
            </a:r>
          </a:p>
        </p:txBody>
      </p:sp>
      <p:sp>
        <p:nvSpPr>
          <p:cNvPr id="334" name="sh"/>
          <p:cNvSpPr/>
          <p:nvPr/>
        </p:nvSpPr>
        <p:spPr>
          <a:xfrm>
            <a:off x="2490139" y="3372830"/>
            <a:ext cx="437540" cy="1839250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35" name="sh"/>
          <p:cNvSpPr/>
          <p:nvPr/>
        </p:nvSpPr>
        <p:spPr>
          <a:xfrm>
            <a:off x="2490139" y="3226527"/>
            <a:ext cx="437540" cy="146303"/>
          </a:xfrm>
          <a:prstGeom prst="rect">
            <a:avLst/>
          </a:prstGeom>
          <a:solidFill>
            <a:srgbClr val="EB683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36" name="tb"/>
          <p:cNvSpPr txBox="1"/>
          <p:nvPr/>
        </p:nvSpPr>
        <p:spPr>
          <a:xfrm>
            <a:off x="2482139" y="3016215"/>
            <a:ext cx="453540" cy="2103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4.8×</a:t>
            </a:r>
          </a:p>
        </p:txBody>
      </p:sp>
      <p:sp>
        <p:nvSpPr>
          <p:cNvPr id="337" name="tb"/>
          <p:cNvSpPr txBox="1"/>
          <p:nvPr/>
        </p:nvSpPr>
        <p:spPr>
          <a:xfrm>
            <a:off x="2331720" y="5230368"/>
            <a:ext cx="7543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750" b="0">
                <a:solidFill>
                  <a:srgbClr val="7A7A7A"/>
                </a:solidFill>
                <a:latin typeface="Calibri"/>
              </a:rPr>
              <a:t>512/2048/49</a:t>
            </a:r>
          </a:p>
        </p:txBody>
      </p:sp>
      <p:sp>
        <p:nvSpPr>
          <p:cNvPr id="338" name="sh"/>
          <p:cNvSpPr/>
          <p:nvPr/>
        </p:nvSpPr>
        <p:spPr>
          <a:xfrm>
            <a:off x="3244519" y="3841003"/>
            <a:ext cx="437540" cy="1371077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39" name="sh"/>
          <p:cNvSpPr/>
          <p:nvPr/>
        </p:nvSpPr>
        <p:spPr>
          <a:xfrm>
            <a:off x="3244519" y="3606917"/>
            <a:ext cx="437540" cy="234086"/>
          </a:xfrm>
          <a:prstGeom prst="rect">
            <a:avLst/>
          </a:prstGeom>
          <a:solidFill>
            <a:srgbClr val="EB683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40" name="tb"/>
          <p:cNvSpPr txBox="1"/>
          <p:nvPr/>
        </p:nvSpPr>
        <p:spPr>
          <a:xfrm>
            <a:off x="3236519" y="3396605"/>
            <a:ext cx="453540" cy="2103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3.8×</a:t>
            </a:r>
          </a:p>
        </p:txBody>
      </p:sp>
      <p:sp>
        <p:nvSpPr>
          <p:cNvPr id="341" name="tb"/>
          <p:cNvSpPr txBox="1"/>
          <p:nvPr/>
        </p:nvSpPr>
        <p:spPr>
          <a:xfrm>
            <a:off x="3086100" y="5230368"/>
            <a:ext cx="7543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750" b="0">
                <a:solidFill>
                  <a:srgbClr val="7A7A7A"/>
                </a:solidFill>
                <a:latin typeface="Calibri"/>
              </a:rPr>
              <a:t>2048/512/49</a:t>
            </a:r>
          </a:p>
        </p:txBody>
      </p:sp>
      <p:sp>
        <p:nvSpPr>
          <p:cNvPr id="342" name="sh"/>
          <p:cNvSpPr/>
          <p:nvPr/>
        </p:nvSpPr>
        <p:spPr>
          <a:xfrm>
            <a:off x="3998899" y="3861904"/>
            <a:ext cx="437540" cy="1350176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43" name="tb"/>
          <p:cNvSpPr txBox="1"/>
          <p:nvPr/>
        </p:nvSpPr>
        <p:spPr>
          <a:xfrm>
            <a:off x="3990899" y="3651592"/>
            <a:ext cx="453540" cy="2103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3.2×</a:t>
            </a:r>
          </a:p>
        </p:txBody>
      </p:sp>
      <p:sp>
        <p:nvSpPr>
          <p:cNvPr id="344" name="tb"/>
          <p:cNvSpPr txBox="1"/>
          <p:nvPr/>
        </p:nvSpPr>
        <p:spPr>
          <a:xfrm>
            <a:off x="3840480" y="5230368"/>
            <a:ext cx="7543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750" b="0">
                <a:solidFill>
                  <a:srgbClr val="7A7A7A"/>
                </a:solidFill>
                <a:latin typeface="Calibri"/>
              </a:rPr>
              <a:t>3072/768/49</a:t>
            </a:r>
          </a:p>
        </p:txBody>
      </p:sp>
      <p:sp>
        <p:nvSpPr>
          <p:cNvPr id="345" name="sh"/>
          <p:cNvSpPr/>
          <p:nvPr/>
        </p:nvSpPr>
        <p:spPr>
          <a:xfrm>
            <a:off x="4753279" y="4442939"/>
            <a:ext cx="437540" cy="769141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46" name="sh"/>
          <p:cNvSpPr/>
          <p:nvPr/>
        </p:nvSpPr>
        <p:spPr>
          <a:xfrm>
            <a:off x="4753279" y="4279915"/>
            <a:ext cx="437540" cy="163024"/>
          </a:xfrm>
          <a:prstGeom prst="rect">
            <a:avLst/>
          </a:prstGeom>
          <a:solidFill>
            <a:srgbClr val="EB683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47" name="tb"/>
          <p:cNvSpPr txBox="1"/>
          <p:nvPr/>
        </p:nvSpPr>
        <p:spPr>
          <a:xfrm>
            <a:off x="4745279" y="4069603"/>
            <a:ext cx="453540" cy="2103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2.2×</a:t>
            </a:r>
          </a:p>
        </p:txBody>
      </p:sp>
      <p:sp>
        <p:nvSpPr>
          <p:cNvPr id="348" name="tb"/>
          <p:cNvSpPr txBox="1"/>
          <p:nvPr/>
        </p:nvSpPr>
        <p:spPr>
          <a:xfrm>
            <a:off x="4594860" y="5230368"/>
            <a:ext cx="7543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750" b="0">
                <a:solidFill>
                  <a:srgbClr val="7A7A7A"/>
                </a:solidFill>
                <a:latin typeface="Calibri"/>
              </a:rPr>
              <a:t>384/1536/196</a:t>
            </a:r>
          </a:p>
        </p:txBody>
      </p:sp>
      <p:sp>
        <p:nvSpPr>
          <p:cNvPr id="349" name="sh"/>
          <p:cNvSpPr/>
          <p:nvPr/>
        </p:nvSpPr>
        <p:spPr>
          <a:xfrm>
            <a:off x="5507659" y="4714647"/>
            <a:ext cx="437540" cy="497433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50" name="sh"/>
          <p:cNvSpPr/>
          <p:nvPr/>
        </p:nvSpPr>
        <p:spPr>
          <a:xfrm>
            <a:off x="5507659" y="4514002"/>
            <a:ext cx="437540" cy="200645"/>
          </a:xfrm>
          <a:prstGeom prst="rect">
            <a:avLst/>
          </a:prstGeom>
          <a:solidFill>
            <a:srgbClr val="EB683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51" name="tb"/>
          <p:cNvSpPr txBox="1"/>
          <p:nvPr/>
        </p:nvSpPr>
        <p:spPr>
          <a:xfrm>
            <a:off x="5499659" y="4303690"/>
            <a:ext cx="453540" cy="2103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1.7×</a:t>
            </a:r>
          </a:p>
        </p:txBody>
      </p:sp>
      <p:sp>
        <p:nvSpPr>
          <p:cNvPr id="352" name="tb"/>
          <p:cNvSpPr txBox="1"/>
          <p:nvPr/>
        </p:nvSpPr>
        <p:spPr>
          <a:xfrm>
            <a:off x="5349240" y="5230368"/>
            <a:ext cx="7543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750" b="0">
                <a:solidFill>
                  <a:srgbClr val="7A7A7A"/>
                </a:solidFill>
                <a:latin typeface="Calibri"/>
              </a:rPr>
              <a:t>1024/512/196</a:t>
            </a:r>
          </a:p>
        </p:txBody>
      </p:sp>
      <p:sp>
        <p:nvSpPr>
          <p:cNvPr id="353" name="sh"/>
          <p:cNvSpPr/>
          <p:nvPr/>
        </p:nvSpPr>
        <p:spPr>
          <a:xfrm>
            <a:off x="6262039" y="4677026"/>
            <a:ext cx="437540" cy="535054"/>
          </a:xfrm>
          <a:prstGeom prst="rect">
            <a:avLst/>
          </a:prstGeom>
          <a:solidFill>
            <a:srgbClr val="4A9B3C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54" name="sh"/>
          <p:cNvSpPr/>
          <p:nvPr/>
        </p:nvSpPr>
        <p:spPr>
          <a:xfrm>
            <a:off x="6262039" y="4509822"/>
            <a:ext cx="437540" cy="167204"/>
          </a:xfrm>
          <a:prstGeom prst="rect">
            <a:avLst/>
          </a:prstGeom>
          <a:solidFill>
            <a:srgbClr val="EB6834"/>
          </a:solidFill>
        </p:spPr>
        <p:txBody>
          <a:bodyPr wrap="square" anchor="ctr">
            <a:normAutofit/>
          </a:bodyPr>
          <a:lstStyle/>
          <a:p>
            <a:pPr>
              <a:buNone/>
            </a:pPr>
            <a:endParaRPr lang="en-US"/>
          </a:p>
        </p:txBody>
      </p:sp>
      <p:sp>
        <p:nvSpPr>
          <p:cNvPr id="355" name="tb"/>
          <p:cNvSpPr txBox="1"/>
          <p:nvPr/>
        </p:nvSpPr>
        <p:spPr>
          <a:xfrm>
            <a:off x="6254039" y="4299510"/>
            <a:ext cx="453540" cy="21031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1">
                <a:solidFill>
                  <a:srgbClr val="1A1A1A"/>
                </a:solidFill>
                <a:latin typeface="Calibri"/>
              </a:rPr>
              <a:t>1.7×</a:t>
            </a:r>
          </a:p>
        </p:txBody>
      </p:sp>
      <p:sp>
        <p:nvSpPr>
          <p:cNvPr id="356" name="tb"/>
          <p:cNvSpPr txBox="1"/>
          <p:nvPr/>
        </p:nvSpPr>
        <p:spPr>
          <a:xfrm>
            <a:off x="6103620" y="5230368"/>
            <a:ext cx="75438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750" b="0">
                <a:solidFill>
                  <a:srgbClr val="7A7A7A"/>
                </a:solidFill>
                <a:latin typeface="Calibri"/>
              </a:rPr>
              <a:t>112/672/196</a:t>
            </a:r>
          </a:p>
        </p:txBody>
      </p:sp>
      <p:sp>
        <p:nvSpPr>
          <p:cNvPr id="357" name="tb"/>
          <p:cNvSpPr txBox="1"/>
          <p:nvPr/>
        </p:nvSpPr>
        <p:spPr>
          <a:xfrm>
            <a:off x="822960" y="5669280"/>
            <a:ext cx="603504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ctr">
              <a:spcBef>
                <a:spcPts val="0"/>
              </a:spcBef>
              <a:buNone/>
            </a:pPr>
            <a:r>
              <a:rPr lang="en-US" sz="1000" b="0">
                <a:solidFill>
                  <a:srgbClr val="7A7A7A"/>
                </a:solidFill>
                <a:latin typeface="Calibri"/>
              </a:rPr>
              <a:t>bar = total speedup;   green = swap,   orange = tile tuning</a:t>
            </a:r>
          </a:p>
        </p:txBody>
      </p:sp>
      <p:sp>
        <p:nvSpPr>
          <p:cNvPr id="358" name="tb"/>
          <p:cNvSpPr txBox="1"/>
          <p:nvPr/>
        </p:nvSpPr>
        <p:spPr>
          <a:xfrm>
            <a:off x="7132320" y="2194560"/>
            <a:ext cx="3657600" cy="3383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1500" b="1">
                <a:solidFill>
                  <a:srgbClr val="3E8E2F"/>
                </a:solidFill>
                <a:latin typeface="Calibri"/>
              </a:rPr>
              <a:t>Complementary by design</a:t>
            </a:r>
          </a:p>
          <a:p>
            <a:pPr marL="228600" indent="-228600" lvl="0" algn="l">
              <a:spcBef>
                <a:spcPts val="500"/>
              </a:spcBef>
              <a:buFont typeface="Arial"/>
              <a:buChar char="▪"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Swap wins where columns starve (7×7): </a:t>
            </a:r>
            <a:r>
              <a:rPr lang="en-US" sz="1150" b="1">
                <a:solidFill>
                  <a:srgbClr val="1A1A1A"/>
                </a:solidFill>
                <a:latin typeface="Calibri"/>
              </a:rPr>
              <a:t>3–6×</a:t>
            </a:r>
            <a:r>
              <a:rPr lang="en-US" sz="1150" b="0">
                <a:solidFill>
                  <a:srgbClr val="1A1A1A"/>
                </a:solidFill>
                <a:latin typeface="Calibri"/>
              </a:rPr>
              <a:t> — but there </a:t>
            </a:r>
            <a:r>
              <a:rPr lang="en-US" sz="1150" b="1">
                <a:solidFill>
                  <a:srgbClr val="1A1A1A"/>
                </a:solidFill>
                <a:latin typeface="Calibri"/>
              </a:rPr>
              <a:t>tuning adds little</a:t>
            </a:r>
            <a:r>
              <a:rPr lang="en-US" sz="1150" b="0">
                <a:solidFill>
                  <a:srgbClr val="1A1A1A"/>
                </a:solidFill>
                <a:latin typeface="Calibri"/>
              </a:rPr>
              <a:t>. The swap puts the few pixels on the </a:t>
            </a:r>
            <a:r>
              <a:rPr lang="en-US" sz="1150" b="1">
                <a:solidFill>
                  <a:srgbClr val="1A1A1A"/>
                </a:solidFill>
                <a:latin typeface="Calibri"/>
              </a:rPr>
              <a:t>row axis</a:t>
            </a:r>
            <a:r>
              <a:rPr lang="en-US" sz="1150" b="0">
                <a:solidFill>
                  <a:srgbClr val="1A1A1A"/>
                </a:solidFill>
                <a:latin typeface="Calibri"/>
              </a:rPr>
              <a:t>, pinning </a:t>
            </a:r>
            <a:r>
              <a:rPr lang="en-US" sz="1150" b="1">
                <a:solidFill>
                  <a:srgbClr val="1A1A1A"/>
                </a:solidFill>
                <a:latin typeface="Calibri"/>
              </a:rPr>
              <a:t>m = 16</a:t>
            </a:r>
            <a:r>
              <a:rPr lang="en-US" sz="1150" b="0">
                <a:solidFill>
                  <a:srgbClr val="1A1A1A"/>
                </a:solidFill>
                <a:latin typeface="Calibri"/>
              </a:rPr>
              <a:t> (49 pixels can't fill a bigger tile without pure padding).</a:t>
            </a:r>
          </a:p>
          <a:p>
            <a:pPr marL="228600" indent="-228600" lvl="0" algn="l">
              <a:spcBef>
                <a:spcPts val="450"/>
              </a:spcBef>
              <a:buFont typeface="Arial"/>
              <a:buChar char="▪"/>
            </a:pPr>
            <a:r>
              <a:rPr lang="en-US" sz="1150" b="0">
                <a:solidFill>
                  <a:srgbClr val="1A1A1A"/>
                </a:solidFill>
                <a:latin typeface="Calibri"/>
              </a:rPr>
              <a:t>Where pixels are plenty (14×14 / wide), a bigger tile (</a:t>
            </a:r>
            <a:r>
              <a:rPr lang="en-US" sz="1150" b="1">
                <a:solidFill>
                  <a:srgbClr val="1A1A1A"/>
                </a:solidFill>
                <a:latin typeface="Calibri"/>
              </a:rPr>
              <a:t>m = 32–64</a:t>
            </a:r>
            <a:r>
              <a:rPr lang="en-US" sz="1150" b="0">
                <a:solidFill>
                  <a:srgbClr val="1A1A1A"/>
                </a:solidFill>
                <a:latin typeface="Calibri"/>
              </a:rPr>
              <a:t>) is free and amortizes overhead → </a:t>
            </a:r>
            <a:r>
              <a:rPr lang="en-US" sz="1150" b="1">
                <a:solidFill>
                  <a:srgbClr val="1A1A1A"/>
                </a:solidFill>
                <a:latin typeface="Calibri"/>
              </a:rPr>
              <a:t>tuning adds most</a:t>
            </a:r>
            <a:r>
              <a:rPr lang="en-US" sz="1150" b="0">
                <a:solidFill>
                  <a:srgbClr val="1A1A1A"/>
                </a:solidFill>
                <a:latin typeface="Calibri"/>
              </a:rPr>
              <a:t> (up to 1.4×), often on the wide layers the swap declines.</a:t>
            </a:r>
          </a:p>
          <a:p>
            <a:pPr marL="0" indent="0" lvl="0" algn="l">
              <a:spcBef>
                <a:spcPts val="450"/>
              </a:spcBef>
              <a:buNone/>
            </a:pPr>
            <a:r>
              <a:rPr lang="en-US" sz="1100" b="0" i="1">
                <a:solidFill>
                  <a:srgbClr val="7A7A7A"/>
                </a:solidFill>
                <a:latin typeface="Calibri"/>
              </a:rPr>
              <a:t>Occupancy (columns) and amortization (tile) — two axes of the same fight.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9" name="tri"/>
          <p:cNvSpPr/>
          <p:nvPr/>
        </p:nvSpPr>
        <p:spPr>
          <a:xfrm flipH="1" flipV="1">
            <a:off x="11140440" y="0"/>
            <a:ext cx="1051560" cy="1051560"/>
          </a:xfrm>
          <a:prstGeom prst="rtTriangle">
            <a:avLst/>
          </a:prstGeom>
          <a:solidFill>
            <a:srgbClr val="4A9B3C"/>
          </a:solidFill>
        </p:spPr>
        <p:txBody>
          <a:bodyPr/>
          <a:lstStyle/>
          <a:p>
            <a:endParaRPr lang="en-US"/>
          </a:p>
        </p:txBody>
      </p:sp>
      <p:sp>
        <p:nvSpPr>
          <p:cNvPr id="360" name="tb"/>
          <p:cNvSpPr txBox="1"/>
          <p:nvPr/>
        </p:nvSpPr>
        <p:spPr>
          <a:xfrm>
            <a:off x="457200" y="256032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2600" b="1">
                <a:solidFill>
                  <a:srgbClr val="3E8E2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361" name="tb"/>
          <p:cNvSpPr txBox="1"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l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ETH Zürich · Università di Bologna</a:t>
            </a:r>
          </a:p>
        </p:txBody>
      </p:sp>
      <p:sp>
        <p:nvSpPr>
          <p:cNvPr id="362" name="tb"/>
          <p:cNvSpPr txBox="1"/>
          <p:nvPr/>
        </p:nvSpPr>
        <p:spPr>
          <a:xfrm>
            <a:off x="6949440" y="6419088"/>
            <a:ext cx="402336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0" indent="0" lvl="0" algn="r">
              <a:spcBef>
                <a:spcPts val="0"/>
              </a:spcBef>
              <a:buNone/>
            </a:pPr>
            <a:r>
              <a:rPr lang="en-US" sz="900" b="0">
                <a:solidFill>
                  <a:srgbClr val="7A7A7A"/>
                </a:solidFill>
                <a:latin typeface="Calibri"/>
              </a:rPr>
              <a:t>Andrea Massimo Rosetti     15</a:t>
            </a:r>
          </a:p>
        </p:txBody>
      </p:sp>
      <p:sp>
        <p:nvSpPr>
          <p:cNvPr id="363" name="tb"/>
          <p:cNvSpPr txBox="1"/>
          <p:nvPr/>
        </p:nvSpPr>
        <p:spPr>
          <a:xfrm>
            <a:off x="594360" y="1234440"/>
            <a:ext cx="6766560" cy="4206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700" b="1">
                <a:solidFill>
                  <a:srgbClr val="1A1A1A"/>
                </a:solidFill>
                <a:latin typeface="Calibri"/>
              </a:rPr>
              <a:t>cols→M swap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— put C_out on the 8 columns:</a:t>
            </a:r>
          </a:p>
          <a:p>
            <a:pPr marL="685800" indent="-228600" lvl="1" algn="l">
              <a:spcBef>
                <a:spcPts val="300"/>
              </a:spcBef>
              <a:buFont typeface="Arial"/>
              <a:buChar char="•"/>
            </a:pPr>
            <a:r>
              <a:rPr lang="en-US" sz="1500" b="1">
                <a:solidFill>
                  <a:srgbClr val="1A1A1A"/>
                </a:solidFill>
                <a:latin typeface="Calibri"/>
              </a:rPr>
              <a:t>3–6×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on tall layers,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1.8×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median, </a:t>
            </a:r>
            <a:r>
              <a:rPr lang="en-US" sz="1500" b="1">
                <a:solidFill>
                  <a:srgbClr val="1A1A1A"/>
                </a:solidFill>
                <a:latin typeface="Calibri"/>
              </a:rPr>
              <a:t>no regressions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228600" indent="-228600" lvl="0" algn="l">
              <a:spcBef>
                <a:spcPts val="700"/>
              </a:spcBef>
              <a:buFont typeface="Arial"/>
              <a:buChar char="▪"/>
            </a:pPr>
            <a:r>
              <a:rPr lang="en-US" sz="1700" b="1">
                <a:solidFill>
                  <a:srgbClr val="1A1A1A"/>
                </a:solidFill>
                <a:latin typeface="Calibri"/>
              </a:rPr>
              <a:t>Vectorization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— up to </a:t>
            </a:r>
            <a:r>
              <a:rPr lang="en-US" sz="1700" b="1">
                <a:solidFill>
                  <a:srgbClr val="1A1A1A"/>
                </a:solidFill>
                <a:latin typeface="Calibri"/>
              </a:rPr>
              <a:t>156×</a:t>
            </a:r>
            <a:r>
              <a:rPr lang="en-US" sz="1700" b="0">
                <a:solidFill>
                  <a:srgbClr val="1A1A1A"/>
                </a:solidFill>
                <a:latin typeface="Calibri"/>
              </a:rPr>
              <a:t> over the scalar kernel.</a:t>
            </a:r>
          </a:p>
          <a:p>
            <a:pPr marL="228600" indent="-228600" lvl="0" algn="l">
              <a:spcBef>
                <a:spcPts val="500"/>
              </a:spcBef>
              <a:buFont typeface="Arial"/>
              <a:buChar char="▪"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Empirical tile autotuning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 — up to </a:t>
            </a:r>
            <a:r>
              <a:rPr lang="en-US" sz="1600" b="1">
                <a:solidFill>
                  <a:srgbClr val="1A1A1A"/>
                </a:solidFill>
                <a:latin typeface="Calibri"/>
              </a:rPr>
              <a:t>1.41×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; best tile varies per shape.</a:t>
            </a:r>
          </a:p>
          <a:p>
            <a:pPr marL="228600" indent="-228600" lvl="0" algn="l">
              <a:spcBef>
                <a:spcPts val="600"/>
              </a:spcBef>
              <a:buFont typeface="Arial"/>
              <a:buChar char="▪"/>
            </a:pPr>
            <a:r>
              <a:rPr lang="en-US" sz="1600" b="1">
                <a:solidFill>
                  <a:srgbClr val="1A1A1A"/>
                </a:solidFill>
                <a:latin typeface="Calibri"/>
              </a:rPr>
              <a:t>Real 1×1 convs are occupancy-bound</a:t>
            </a:r>
            <a:r>
              <a:rPr lang="en-US" sz="1600" b="0">
                <a:solidFill>
                  <a:srgbClr val="1A1A1A"/>
                </a:solidFill>
                <a:latin typeface="Calibri"/>
              </a:rPr>
              <a:t>, not compute-bound — the swap is the right lever.</a:t>
            </a:r>
          </a:p>
          <a:p>
            <a:pPr marL="228600" indent="-228600" lvl="0" algn="l">
              <a:spcBef>
                <a:spcPts val="700"/>
              </a:spcBef>
              <a:buFont typeface="Arial"/>
              <a:buChar char="▪"/>
            </a:pPr>
            <a:r>
              <a:rPr lang="en-US" sz="1500" b="1">
                <a:solidFill>
                  <a:srgbClr val="1A1A1A"/>
                </a:solidFill>
                <a:latin typeface="Calibri"/>
              </a:rPr>
              <a:t>Future work:</a:t>
            </a:r>
            <a:r>
              <a:rPr lang="en-US" sz="1500" b="0">
                <a:solidFill>
                  <a:srgbClr val="1A1A1A"/>
                </a:solidFill>
                <a:latin typeface="Calibri"/>
              </a:rPr>
              <a:t>  single-dispatch batching · int8 · layer fusion</a:t>
            </a:r>
          </a:p>
        </p:txBody>
      </p:sp>
      <p:sp>
        <p:nvSpPr>
          <p:cNvPr id="364" name="sh"/>
          <p:cNvSpPr/>
          <p:nvPr/>
        </p:nvSpPr>
        <p:spPr>
          <a:xfrm rot="-480000">
            <a:off x="7680960" y="1783080"/>
            <a:ext cx="2926080" cy="1188720"/>
          </a:xfrm>
          <a:prstGeom prst="roundRect">
            <a:avLst/>
          </a:prstGeom>
          <a:solidFill>
            <a:srgbClr val="9FB9D8"/>
          </a:solidFill>
          <a:ln w="28575">
            <a:solidFill>
              <a:srgbClr val="1A1A1A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6.3× max
swap</a:t>
            </a:r>
          </a:p>
        </p:txBody>
      </p:sp>
      <p:sp>
        <p:nvSpPr>
          <p:cNvPr id="365" name="sh"/>
          <p:cNvSpPr/>
          <p:nvPr/>
        </p:nvSpPr>
        <p:spPr>
          <a:xfrm rot="480000">
            <a:off x="7680960" y="3611880"/>
            <a:ext cx="2926080" cy="1188720"/>
          </a:xfrm>
          <a:prstGeom prst="roundRect">
            <a:avLst/>
          </a:prstGeom>
          <a:solidFill>
            <a:srgbClr val="9FB9D8"/>
          </a:solidFill>
          <a:ln w="28575">
            <a:solidFill>
              <a:srgbClr val="1A1A1A"/>
            </a:solidFill>
          </a:ln>
        </p:spPr>
        <p:txBody>
          <a:bodyPr wrap="square" anchor="ctr">
            <a:normAutofit/>
          </a:bodyPr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156× max
vs scalar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LP">
  <a:themeElements>
    <a:clrScheme name="PULP">
      <a:dk1>
        <a:sysClr val="windowText" lastClr="000000"/>
      </a:dk1>
      <a:lt1>
        <a:sysClr val="window" lastClr="FFFFFF"/>
      </a:lt1>
      <a:dk2>
        <a:srgbClr val="1A1A1A"/>
      </a:dk2>
      <a:lt2>
        <a:srgbClr val="F4F5F3"/>
      </a:lt2>
      <a:accent1>
        <a:srgbClr val="4A9B3C"/>
      </a:accent1>
      <a:accent2>
        <a:srgbClr val="2E6DA4"/>
      </a:accent2>
      <a:accent3>
        <a:srgbClr val="B0392E"/>
      </a:accent3>
      <a:accent4>
        <a:srgbClr val="9AA0A6"/>
      </a:accent4>
      <a:accent5>
        <a:srgbClr val="9FB9D8"/>
      </a:accent5>
      <a:accent6>
        <a:srgbClr val="3E8E2F"/>
      </a:accent6>
      <a:hlink>
        <a:srgbClr val="0563C1"/>
      </a:hlink>
      <a:folHlink>
        <a:srgbClr val="954F72"/>
      </a:folHlink>
    </a:clrScheme>
    <a:fontScheme name="PULP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UL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